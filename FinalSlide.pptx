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6" r:id="rId7"/>
    <p:sldId id="267" r:id="rId8"/>
    <p:sldId id="268" r:id="rId9"/>
    <p:sldId id="261" r:id="rId10"/>
    <p:sldId id="262" r:id="rId11"/>
    <p:sldId id="269" r:id="rId12"/>
    <p:sldId id="263" r:id="rId13"/>
    <p:sldId id="272" r:id="rId14"/>
    <p:sldId id="274" r:id="rId15"/>
    <p:sldId id="279" r:id="rId16"/>
    <p:sldId id="273" r:id="rId17"/>
    <p:sldId id="275" r:id="rId18"/>
    <p:sldId id="281" r:id="rId19"/>
    <p:sldId id="277" r:id="rId20"/>
    <p:sldId id="276" r:id="rId21"/>
    <p:sldId id="283" r:id="rId22"/>
    <p:sldId id="278" r:id="rId23"/>
    <p:sldId id="264" r:id="rId24"/>
    <p:sldId id="271" r:id="rId25"/>
    <p:sldId id="265" r:id="rId26"/>
    <p:sldId id="270" r:id="rId27"/>
    <p:sldId id="28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301CC7C-BB58-4BA7-9464-04F1424D5100}" type="datetimeFigureOut">
              <a:rPr lang="en-US" smtClean="0"/>
              <a:t>8/11/2022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6ED254-315F-4BA8-AF1B-690644CC1F7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01CC7C-BB58-4BA7-9464-04F1424D5100}" type="datetimeFigureOut">
              <a:rPr lang="en-US" smtClean="0"/>
              <a:t>8/11/2022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6ED254-315F-4BA8-AF1B-690644CC1F7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01CC7C-BB58-4BA7-9464-04F1424D5100}" type="datetimeFigureOut">
              <a:rPr lang="en-US" smtClean="0"/>
              <a:t>8/11/2022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6ED254-315F-4BA8-AF1B-690644CC1F7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301CC7C-BB58-4BA7-9464-04F1424D5100}" type="datetimeFigureOut">
              <a:rPr lang="en-US" smtClean="0"/>
              <a:t>8/11/2022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6ED254-315F-4BA8-AF1B-690644CC1F7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301CC7C-BB58-4BA7-9464-04F1424D5100}" type="datetimeFigureOut">
              <a:rPr lang="en-US" smtClean="0"/>
              <a:t>8/11/2022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96ED254-315F-4BA8-AF1B-690644CC1F7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301CC7C-BB58-4BA7-9464-04F1424D5100}" type="datetimeFigureOut">
              <a:rPr lang="en-US" smtClean="0"/>
              <a:t>8/11/2022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96ED254-315F-4BA8-AF1B-690644CC1F7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01CC7C-BB58-4BA7-9464-04F1424D5100}" type="datetimeFigureOut">
              <a:rPr lang="en-US" smtClean="0"/>
              <a:t>8/11/2022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96ED254-315F-4BA8-AF1B-690644CC1F7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01CC7C-BB58-4BA7-9464-04F1424D5100}" type="datetimeFigureOut">
              <a:rPr lang="en-US" smtClean="0"/>
              <a:t>8/11/2022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6ED254-315F-4BA8-AF1B-690644CC1F7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01CC7C-BB58-4BA7-9464-04F1424D5100}" type="datetimeFigureOut">
              <a:rPr lang="en-US" smtClean="0"/>
              <a:t>8/11/2022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6ED254-315F-4BA8-AF1B-690644CC1F7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01CC7C-BB58-4BA7-9464-04F1424D5100}" type="datetimeFigureOut">
              <a:rPr lang="en-US" smtClean="0"/>
              <a:t>8/11/2022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6ED254-315F-4BA8-AF1B-690644CC1F7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01CC7C-BB58-4BA7-9464-04F1424D5100}" type="datetimeFigureOut">
              <a:rPr lang="en-US" smtClean="0"/>
              <a:t>8/11/2022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6ED254-315F-4BA8-AF1B-690644CC1F7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01CC7C-BB58-4BA7-9464-04F1424D5100}" type="datetimeFigureOut">
              <a:rPr lang="en-US" smtClean="0"/>
              <a:t>8/11/2022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6ED254-315F-4BA8-AF1B-690644CC1F7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elibrary.imf.org/view/journals/001/2021/124/article-A001-en.xml" TargetMode="External"/><Relationship Id="rId2" Type="http://schemas.openxmlformats.org/officeDocument/2006/relationships/hyperlink" Target="https://coronavirus.jhu.edu/map.html%202020"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ideas.repec.org/h/nbr/nberch/14009.html" TargetMode="External"/><Relationship Id="rId2" Type="http://schemas.openxmlformats.org/officeDocument/2006/relationships/hyperlink" Target="https://doi.org/10.3386/w26983" TargetMode="External"/><Relationship Id="rId1" Type="http://schemas.openxmlformats.org/officeDocument/2006/relationships/slideLayout" Target="../slideLayouts/slideLayout2.xml"/><Relationship Id="rId5" Type="http://schemas.openxmlformats.org/officeDocument/2006/relationships/hyperlink" Target="https://www.elibrary.imf.org/view/journals/001/2021/124/article-A001-en.xml" TargetMode="External"/><Relationship Id="rId4" Type="http://schemas.openxmlformats.org/officeDocument/2006/relationships/hyperlink" Target="https://www.medrxiv.org/content/10.1101/2020.04.27.20082057v1.full.pdf"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22850" y="406400"/>
            <a:ext cx="10946296" cy="3271446"/>
          </a:xfrm>
        </p:spPr>
        <p:txBody>
          <a:bodyPr>
            <a:noAutofit/>
          </a:bodyPr>
          <a:lstStyle/>
          <a:p>
            <a:pPr>
              <a:lnSpc>
                <a:spcPct val="100000"/>
              </a:lnSpc>
            </a:pPr>
            <a:r>
              <a:rPr lang="en-US" sz="5100" b="1" dirty="0">
                <a:effectLst/>
                <a:latin typeface="+mn-lt"/>
                <a:ea typeface="SimSun" panose="02010600030101010101" pitchFamily="2" charset="-122"/>
                <a:cs typeface="+mn-lt"/>
              </a:rPr>
              <a:t>PREDICTING THE ECONOMIC IMPACT OF POST COVID-19 IN SUB-SAHARAN AFRICAN COUNTRIES USING GRADIENT BOOSTING</a:t>
            </a:r>
          </a:p>
        </p:txBody>
      </p:sp>
      <p:sp>
        <p:nvSpPr>
          <p:cNvPr id="3" name="Subtitle 2"/>
          <p:cNvSpPr>
            <a:spLocks noGrp="1"/>
          </p:cNvSpPr>
          <p:nvPr>
            <p:ph type="subTitle" idx="1"/>
          </p:nvPr>
        </p:nvSpPr>
        <p:spPr>
          <a:xfrm>
            <a:off x="311424" y="4004019"/>
            <a:ext cx="11569147" cy="2447581"/>
          </a:xfrm>
        </p:spPr>
        <p:txBody>
          <a:bodyPr>
            <a:noAutofit/>
          </a:bodyPr>
          <a:lstStyle/>
          <a:p>
            <a:pPr>
              <a:lnSpc>
                <a:spcPct val="150000"/>
              </a:lnSpc>
            </a:pPr>
            <a:r>
              <a:rPr lang="en-US" sz="3400" dirty="0">
                <a:cs typeface="+mn-lt"/>
              </a:rPr>
              <a:t>OGHENEKARO EMMANUELLA AVWERUSUOGHENE</a:t>
            </a:r>
          </a:p>
          <a:p>
            <a:pPr>
              <a:lnSpc>
                <a:spcPct val="150000"/>
              </a:lnSpc>
            </a:pPr>
            <a:r>
              <a:rPr lang="en-US" sz="3400" dirty="0">
                <a:cs typeface="+mn-lt"/>
              </a:rPr>
              <a:t>FSC/CSC/01801029</a:t>
            </a:r>
          </a:p>
          <a:p>
            <a:pPr>
              <a:lnSpc>
                <a:spcPct val="150000"/>
              </a:lnSpc>
            </a:pPr>
            <a:r>
              <a:rPr lang="en-US" sz="3400" dirty="0">
                <a:cs typeface="+mn-lt"/>
              </a:rPr>
              <a:t>DEPARTMENT OF COMPUTER SCIENCE AND MATHEMATICS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0989" y="456200"/>
            <a:ext cx="10515600" cy="1052858"/>
          </a:xfrm>
        </p:spPr>
        <p:txBody>
          <a:bodyPr>
            <a:normAutofit/>
          </a:bodyPr>
          <a:lstStyle/>
          <a:p>
            <a:r>
              <a:rPr lang="en-US" sz="5000" b="1" dirty="0">
                <a:cs typeface="+mj-lt"/>
              </a:rPr>
              <a:t>PROJECT BACKGROUND</a:t>
            </a:r>
          </a:p>
        </p:txBody>
      </p:sp>
      <p:sp>
        <p:nvSpPr>
          <p:cNvPr id="3" name="Content Placeholder 2"/>
          <p:cNvSpPr>
            <a:spLocks noGrp="1"/>
          </p:cNvSpPr>
          <p:nvPr>
            <p:ph idx="1"/>
          </p:nvPr>
        </p:nvSpPr>
        <p:spPr>
          <a:xfrm>
            <a:off x="790989" y="1509058"/>
            <a:ext cx="10610022" cy="4639950"/>
          </a:xfrm>
        </p:spPr>
        <p:txBody>
          <a:bodyPr>
            <a:normAutofit fontScale="25000" lnSpcReduction="10000"/>
          </a:bodyPr>
          <a:lstStyle/>
          <a:p>
            <a:pPr algn="just">
              <a:lnSpc>
                <a:spcPct val="120000"/>
              </a:lnSpc>
            </a:pPr>
            <a:r>
              <a:rPr lang="en-US" sz="12800" b="0" i="0" dirty="0">
                <a:effectLst/>
                <a:cs typeface="+mn-lt"/>
              </a:rPr>
              <a:t>The outbreak of coronavirus named COVID-19 disrupted the Worlds economy and is spreading globally. Since mid-July 2021, COVID</a:t>
            </a:r>
            <a:r>
              <a:rPr lang="en-GB" altLang="en-US" sz="12800" b="0" i="0" dirty="0">
                <a:effectLst/>
                <a:cs typeface="+mn-lt"/>
              </a:rPr>
              <a:t>-</a:t>
            </a:r>
            <a:r>
              <a:rPr lang="en-US" sz="12800" b="0" i="0" dirty="0">
                <a:effectLst/>
                <a:cs typeface="+mn-lt"/>
              </a:rPr>
              <a:t>19 deaths have surged across Africa (</a:t>
            </a:r>
            <a:r>
              <a:rPr lang="en-US" sz="12800" dirty="0" err="1">
                <a:effectLst/>
                <a:ea typeface="Calibri" panose="020F0502020204030204" pitchFamily="34" charset="0"/>
                <a:cs typeface="+mn-lt"/>
              </a:rPr>
              <a:t>Su</a:t>
            </a:r>
            <a:r>
              <a:rPr lang="en-US" sz="12800" dirty="0">
                <a:effectLst/>
                <a:ea typeface="Calibri" panose="020F0502020204030204" pitchFamily="34" charset="0"/>
                <a:cs typeface="+mn-lt"/>
              </a:rPr>
              <a:t> S, et al, 2016</a:t>
            </a:r>
            <a:r>
              <a:rPr lang="en-US" sz="12800" b="0" i="0" dirty="0">
                <a:effectLst/>
                <a:cs typeface="+mn-lt"/>
              </a:rPr>
              <a:t>). </a:t>
            </a:r>
          </a:p>
          <a:p>
            <a:pPr algn="just">
              <a:lnSpc>
                <a:spcPct val="120000"/>
              </a:lnSpc>
            </a:pPr>
            <a:r>
              <a:rPr lang="en-US" sz="12800" b="0" i="0" dirty="0">
                <a:effectLst/>
                <a:cs typeface="+mn-lt"/>
              </a:rPr>
              <a:t>To better understand the possible economic consequences, this </a:t>
            </a:r>
            <a:r>
              <a:rPr lang="en-GB" altLang="en-US" sz="12800" b="0" i="0" dirty="0">
                <a:effectLst/>
                <a:cs typeface="+mn-lt"/>
              </a:rPr>
              <a:t>project</a:t>
            </a:r>
            <a:r>
              <a:rPr lang="en-US" sz="12800" b="0" i="0" dirty="0">
                <a:effectLst/>
                <a:cs typeface="+mn-lt"/>
              </a:rPr>
              <a:t> uses machine learnin</a:t>
            </a:r>
            <a:r>
              <a:rPr lang="en-US" sz="12800" b="0" dirty="0">
                <a:cs typeface="+mn-lt"/>
              </a:rPr>
              <a:t>g </a:t>
            </a:r>
            <a:r>
              <a:rPr lang="en-US" sz="12800" b="0" i="0" dirty="0">
                <a:effectLst/>
                <a:cs typeface="+mn-lt"/>
              </a:rPr>
              <a:t>model to explore different scenarios of how the economic impact of COVID</a:t>
            </a:r>
            <a:r>
              <a:rPr lang="en-GB" altLang="en-US" sz="12800" b="0" i="0" dirty="0">
                <a:effectLst/>
                <a:cs typeface="+mn-lt"/>
              </a:rPr>
              <a:t>-</a:t>
            </a:r>
            <a:r>
              <a:rPr lang="en-US" sz="12800" b="0" i="0" dirty="0">
                <a:effectLst/>
                <a:cs typeface="+mn-lt"/>
              </a:rPr>
              <a:t>19 will evolve in the coming years (</a:t>
            </a:r>
            <a:r>
              <a:rPr lang="en-US" sz="12800" dirty="0">
                <a:effectLst/>
                <a:ea typeface="Calibri" panose="020F0502020204030204" pitchFamily="34" charset="0"/>
                <a:cs typeface="+mn-lt"/>
              </a:rPr>
              <a:t>Wong G, et al, 2016</a:t>
            </a:r>
            <a:r>
              <a:rPr lang="en-US" sz="12800" b="0" i="0" dirty="0">
                <a:effectLst/>
                <a:cs typeface="+mn-lt"/>
              </a:rPr>
              <a:t>).</a:t>
            </a:r>
            <a:endParaRPr lang="en-US" sz="12800" dirty="0">
              <a:cs typeface="+mn-lt"/>
            </a:endParaRPr>
          </a:p>
          <a:p>
            <a:endParaRPr lang="en-US" sz="12800" b="0" i="0" dirty="0">
              <a:effectLst/>
              <a:cs typeface="+mn-lt"/>
            </a:endParaRPr>
          </a:p>
          <a:p>
            <a:endParaRPr lang="en-US" sz="12800" dirty="0">
              <a:cs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91630"/>
            <a:ext cx="10515600" cy="1052858"/>
          </a:xfrm>
        </p:spPr>
        <p:txBody>
          <a:bodyPr>
            <a:normAutofit/>
          </a:bodyPr>
          <a:lstStyle/>
          <a:p>
            <a:r>
              <a:rPr lang="en-US" sz="5000" dirty="0">
                <a:cs typeface="Times New Roman" panose="02020603050405020304" pitchFamily="18" charset="0"/>
              </a:rPr>
              <a:t>PROBLEM STATEMENT</a:t>
            </a:r>
          </a:p>
        </p:txBody>
      </p:sp>
      <p:sp>
        <p:nvSpPr>
          <p:cNvPr id="3" name="Content Placeholder 2"/>
          <p:cNvSpPr>
            <a:spLocks noGrp="1"/>
          </p:cNvSpPr>
          <p:nvPr>
            <p:ph idx="1"/>
          </p:nvPr>
        </p:nvSpPr>
        <p:spPr/>
        <p:txBody>
          <a:bodyPr>
            <a:normAutofit/>
          </a:bodyPr>
          <a:lstStyle/>
          <a:p>
            <a:pPr algn="just">
              <a:lnSpc>
                <a:spcPct val="110000"/>
              </a:lnSpc>
              <a:spcBef>
                <a:spcPts val="1200"/>
              </a:spcBef>
            </a:pPr>
            <a:r>
              <a:rPr lang="en-US" sz="3200" b="0" dirty="0">
                <a:ea typeface="Calibri" panose="020F0502020204030204" pitchFamily="34" charset="0"/>
                <a:cs typeface="+mn-lt"/>
              </a:rPr>
              <a:t>B</a:t>
            </a:r>
            <a:r>
              <a:rPr lang="en-US" sz="3200" b="0" dirty="0">
                <a:effectLst/>
                <a:ea typeface="Calibri" panose="020F0502020204030204" pitchFamily="34" charset="0"/>
                <a:cs typeface="+mn-lt"/>
              </a:rPr>
              <a:t>ased on previous research carried out, we found out that durin</a:t>
            </a:r>
            <a:r>
              <a:rPr lang="en-US" sz="3200" b="0" dirty="0">
                <a:ea typeface="Calibri" panose="020F0502020204030204" pitchFamily="34" charset="0"/>
                <a:cs typeface="+mn-lt"/>
              </a:rPr>
              <a:t>g the covid19,</a:t>
            </a:r>
            <a:r>
              <a:rPr lang="en-US" sz="3200" b="0" dirty="0">
                <a:effectLst/>
                <a:ea typeface="Calibri" panose="020F0502020204030204" pitchFamily="34" charset="0"/>
                <a:cs typeface="+mn-lt"/>
              </a:rPr>
              <a:t> the economic risk of this pandemic was high in the poorer parts of the world (developing countries). </a:t>
            </a:r>
          </a:p>
          <a:p>
            <a:pPr algn="just">
              <a:lnSpc>
                <a:spcPct val="110000"/>
              </a:lnSpc>
              <a:spcBef>
                <a:spcPts val="1200"/>
              </a:spcBef>
            </a:pPr>
            <a:r>
              <a:rPr lang="en-US" sz="3200" b="0" dirty="0">
                <a:ea typeface="Calibri" panose="020F0502020204030204" pitchFamily="34" charset="0"/>
                <a:cs typeface="+mn-lt"/>
              </a:rPr>
              <a:t>We are going to measure the post economic impact of 19 in developing countries with the aid of pre-pandemic data source using machine learning.</a:t>
            </a:r>
            <a:endParaRPr lang="en-US" sz="3200" dirty="0">
              <a:cs typeface="+mn-lt"/>
            </a:endParaRPr>
          </a:p>
          <a:p>
            <a:endParaRPr lang="en-US" sz="3200" dirty="0">
              <a:cs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52858"/>
          </a:xfrm>
        </p:spPr>
        <p:txBody>
          <a:bodyPr>
            <a:normAutofit/>
          </a:bodyPr>
          <a:lstStyle/>
          <a:p>
            <a:r>
              <a:rPr lang="en-US" sz="5000" dirty="0">
                <a:cs typeface="Times New Roman" panose="02020603050405020304" pitchFamily="18" charset="0"/>
              </a:rPr>
              <a:t>AIMS AND OBJECTIVES</a:t>
            </a:r>
          </a:p>
        </p:txBody>
      </p:sp>
      <p:sp>
        <p:nvSpPr>
          <p:cNvPr id="4" name="TextBox 3"/>
          <p:cNvSpPr txBox="1"/>
          <p:nvPr/>
        </p:nvSpPr>
        <p:spPr>
          <a:xfrm>
            <a:off x="838200" y="1733111"/>
            <a:ext cx="9279685" cy="583565"/>
          </a:xfrm>
          <a:prstGeom prst="rect">
            <a:avLst/>
          </a:prstGeom>
          <a:noFill/>
        </p:spPr>
        <p:txBody>
          <a:bodyPr wrap="square">
            <a:spAutoFit/>
          </a:bodyPr>
          <a:lstStyle/>
          <a:p>
            <a:pPr marL="514350" indent="-514350">
              <a:buFont typeface="+mj-lt"/>
              <a:buAutoNum type="arabicPeriod"/>
            </a:pPr>
            <a:r>
              <a:rPr lang="en-US" sz="3200" b="0" dirty="0">
                <a:effectLst/>
                <a:ea typeface="Times New Roman" panose="02020603050405020304" pitchFamily="18" charset="0"/>
                <a:cs typeface="+mn-lt"/>
              </a:rPr>
              <a:t>To conduct a critical review on existing literature</a:t>
            </a:r>
          </a:p>
        </p:txBody>
      </p:sp>
      <p:sp>
        <p:nvSpPr>
          <p:cNvPr id="5" name="TextBox 4"/>
          <p:cNvSpPr txBox="1"/>
          <p:nvPr/>
        </p:nvSpPr>
        <p:spPr>
          <a:xfrm>
            <a:off x="838200" y="2751731"/>
            <a:ext cx="10515600" cy="1076325"/>
          </a:xfrm>
          <a:prstGeom prst="rect">
            <a:avLst/>
          </a:prstGeom>
          <a:noFill/>
        </p:spPr>
        <p:txBody>
          <a:bodyPr wrap="square">
            <a:spAutoFit/>
          </a:bodyPr>
          <a:lstStyle/>
          <a:p>
            <a:pPr marL="514350" indent="-514350" algn="just">
              <a:buFont typeface="+mj-lt"/>
              <a:buAutoNum type="arabicPeriod" startAt="2"/>
            </a:pPr>
            <a:r>
              <a:rPr lang="en-US" sz="3200" b="0" dirty="0">
                <a:effectLst/>
                <a:ea typeface="Times New Roman" panose="02020603050405020304" pitchFamily="18" charset="0"/>
                <a:cs typeface="+mn-lt"/>
              </a:rPr>
              <a:t>To design a model for predicting economic impact of Covid-19 on Sub-Saharan countries.</a:t>
            </a:r>
          </a:p>
        </p:txBody>
      </p:sp>
      <p:sp>
        <p:nvSpPr>
          <p:cNvPr id="6" name="TextBox 5"/>
          <p:cNvSpPr txBox="1"/>
          <p:nvPr/>
        </p:nvSpPr>
        <p:spPr>
          <a:xfrm>
            <a:off x="838199" y="4223346"/>
            <a:ext cx="10515599" cy="1076325"/>
          </a:xfrm>
          <a:prstGeom prst="rect">
            <a:avLst/>
          </a:prstGeom>
          <a:noFill/>
        </p:spPr>
        <p:txBody>
          <a:bodyPr wrap="square">
            <a:spAutoFit/>
          </a:bodyPr>
          <a:lstStyle/>
          <a:p>
            <a:pPr marL="514350" indent="-514350" algn="just">
              <a:buFont typeface="+mj-lt"/>
              <a:buAutoNum type="arabicPeriod" startAt="3"/>
            </a:pPr>
            <a:r>
              <a:rPr lang="en-US" sz="3200" b="0" dirty="0">
                <a:effectLst/>
                <a:ea typeface="Times New Roman" panose="02020603050405020304" pitchFamily="18" charset="0"/>
                <a:cs typeface="+mn-lt"/>
              </a:rPr>
              <a:t>To predict the impact of Covid-19 on Sub-Saharan countries using Gradien</a:t>
            </a:r>
            <a:r>
              <a:rPr lang="en-US" sz="3200" dirty="0">
                <a:ea typeface="Times New Roman" panose="02020603050405020304" pitchFamily="18" charset="0"/>
                <a:cs typeface="+mn-lt"/>
              </a:rPr>
              <a:t>t Boosting</a:t>
            </a:r>
          </a:p>
        </p:txBody>
      </p:sp>
      <p:sp>
        <p:nvSpPr>
          <p:cNvPr id="7" name="TextBox 6"/>
          <p:cNvSpPr txBox="1"/>
          <p:nvPr/>
        </p:nvSpPr>
        <p:spPr>
          <a:xfrm>
            <a:off x="838199" y="5694961"/>
            <a:ext cx="10515599" cy="583565"/>
          </a:xfrm>
          <a:prstGeom prst="rect">
            <a:avLst/>
          </a:prstGeom>
          <a:noFill/>
        </p:spPr>
        <p:txBody>
          <a:bodyPr wrap="square">
            <a:spAutoFit/>
          </a:bodyPr>
          <a:lstStyle/>
          <a:p>
            <a:pPr marL="514350" indent="-514350" algn="just">
              <a:buFont typeface="+mj-lt"/>
              <a:buAutoNum type="arabicPeriod" startAt="4"/>
            </a:pPr>
            <a:r>
              <a:rPr lang="en-US" sz="3200" b="0" dirty="0">
                <a:effectLst/>
                <a:ea typeface="Times New Roman" panose="02020603050405020304" pitchFamily="18" charset="0"/>
                <a:cs typeface="+mn-lt"/>
              </a:rPr>
              <a:t>To test and validate proposed model with existing ones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821" y="248147"/>
            <a:ext cx="10515600" cy="1052858"/>
          </a:xfrm>
        </p:spPr>
        <p:txBody>
          <a:bodyPr>
            <a:normAutofit/>
          </a:bodyPr>
          <a:lstStyle/>
          <a:p>
            <a:r>
              <a:rPr lang="en-US" sz="5000" dirty="0">
                <a:cs typeface="Times New Roman" panose="02020603050405020304" pitchFamily="18" charset="0"/>
              </a:rPr>
              <a:t>SUMMARY OF RELATED WORKS</a:t>
            </a:r>
          </a:p>
        </p:txBody>
      </p:sp>
      <p:graphicFrame>
        <p:nvGraphicFramePr>
          <p:cNvPr id="4" name="Table 10"/>
          <p:cNvGraphicFramePr/>
          <p:nvPr/>
        </p:nvGraphicFramePr>
        <p:xfrm>
          <a:off x="458821" y="1417984"/>
          <a:ext cx="11274357" cy="5191869"/>
        </p:xfrm>
        <a:graphic>
          <a:graphicData uri="http://schemas.openxmlformats.org/drawingml/2006/table">
            <a:tbl>
              <a:tblPr firstRow="1" bandRow="1">
                <a:tableStyleId>{D7AC3CCA-C797-4891-BE02-D94E43425B78}</a:tableStyleId>
              </a:tblPr>
              <a:tblGrid>
                <a:gridCol w="784053">
                  <a:extLst>
                    <a:ext uri="{9D8B030D-6E8A-4147-A177-3AD203B41FA5}">
                      <a16:colId xmlns:a16="http://schemas.microsoft.com/office/drawing/2014/main" val="20000"/>
                    </a:ext>
                  </a:extLst>
                </a:gridCol>
                <a:gridCol w="2352582">
                  <a:extLst>
                    <a:ext uri="{9D8B030D-6E8A-4147-A177-3AD203B41FA5}">
                      <a16:colId xmlns:a16="http://schemas.microsoft.com/office/drawing/2014/main" val="20001"/>
                    </a:ext>
                  </a:extLst>
                </a:gridCol>
                <a:gridCol w="2574525">
                  <a:extLst>
                    <a:ext uri="{9D8B030D-6E8A-4147-A177-3AD203B41FA5}">
                      <a16:colId xmlns:a16="http://schemas.microsoft.com/office/drawing/2014/main" val="20002"/>
                    </a:ext>
                  </a:extLst>
                </a:gridCol>
                <a:gridCol w="2068497">
                  <a:extLst>
                    <a:ext uri="{9D8B030D-6E8A-4147-A177-3AD203B41FA5}">
                      <a16:colId xmlns:a16="http://schemas.microsoft.com/office/drawing/2014/main" val="20003"/>
                    </a:ext>
                  </a:extLst>
                </a:gridCol>
                <a:gridCol w="2397857">
                  <a:extLst>
                    <a:ext uri="{9D8B030D-6E8A-4147-A177-3AD203B41FA5}">
                      <a16:colId xmlns:a16="http://schemas.microsoft.com/office/drawing/2014/main" val="20004"/>
                    </a:ext>
                  </a:extLst>
                </a:gridCol>
                <a:gridCol w="1096843">
                  <a:extLst>
                    <a:ext uri="{9D8B030D-6E8A-4147-A177-3AD203B41FA5}">
                      <a16:colId xmlns:a16="http://schemas.microsoft.com/office/drawing/2014/main" val="20005"/>
                    </a:ext>
                  </a:extLst>
                </a:gridCol>
              </a:tblGrid>
              <a:tr h="711309">
                <a:tc>
                  <a:txBody>
                    <a:bodyPr/>
                    <a:lstStyle/>
                    <a:p>
                      <a:pPr algn="ctr"/>
                      <a:r>
                        <a:rPr lang="en-US" sz="3000" dirty="0">
                          <a:cs typeface="+mn-lt"/>
                        </a:rPr>
                        <a:t>S/N</a:t>
                      </a:r>
                    </a:p>
                  </a:txBody>
                  <a:tcPr>
                    <a:solidFill>
                      <a:schemeClr val="bg1"/>
                    </a:solidFill>
                  </a:tcPr>
                </a:tc>
                <a:tc>
                  <a:txBody>
                    <a:bodyPr/>
                    <a:lstStyle/>
                    <a:p>
                      <a:pPr algn="ctr"/>
                      <a:r>
                        <a:rPr lang="en-US" sz="3000" dirty="0">
                          <a:cs typeface="+mn-lt"/>
                        </a:rPr>
                        <a:t>Authors</a:t>
                      </a:r>
                    </a:p>
                  </a:txBody>
                  <a:tcPr>
                    <a:solidFill>
                      <a:schemeClr val="bg1"/>
                    </a:solidFill>
                  </a:tcPr>
                </a:tc>
                <a:tc>
                  <a:txBody>
                    <a:bodyPr/>
                    <a:lstStyle/>
                    <a:p>
                      <a:pPr algn="ctr"/>
                      <a:r>
                        <a:rPr lang="en-US" sz="3000" dirty="0">
                          <a:cs typeface="+mn-lt"/>
                        </a:rPr>
                        <a:t>Methods Used</a:t>
                      </a:r>
                    </a:p>
                  </a:txBody>
                  <a:tcPr>
                    <a:solidFill>
                      <a:schemeClr val="bg1"/>
                    </a:solidFill>
                  </a:tcPr>
                </a:tc>
                <a:tc>
                  <a:txBody>
                    <a:bodyPr/>
                    <a:lstStyle/>
                    <a:p>
                      <a:pPr algn="ctr"/>
                      <a:r>
                        <a:rPr lang="en-US" sz="3000" dirty="0">
                          <a:cs typeface="+mn-lt"/>
                        </a:rPr>
                        <a:t>Strength</a:t>
                      </a:r>
                    </a:p>
                  </a:txBody>
                  <a:tcPr>
                    <a:solidFill>
                      <a:schemeClr val="bg1"/>
                    </a:solidFill>
                  </a:tcPr>
                </a:tc>
                <a:tc>
                  <a:txBody>
                    <a:bodyPr/>
                    <a:lstStyle/>
                    <a:p>
                      <a:pPr algn="ctr"/>
                      <a:r>
                        <a:rPr lang="en-US" sz="3000" dirty="0">
                          <a:cs typeface="+mn-lt"/>
                        </a:rPr>
                        <a:t>Weakness</a:t>
                      </a:r>
                    </a:p>
                  </a:txBody>
                  <a:tcPr>
                    <a:solidFill>
                      <a:schemeClr val="bg1"/>
                    </a:solidFill>
                  </a:tcPr>
                </a:tc>
                <a:tc>
                  <a:txBody>
                    <a:bodyPr/>
                    <a:lstStyle/>
                    <a:p>
                      <a:pPr algn="ctr"/>
                      <a:r>
                        <a:rPr lang="en-US" sz="3000" dirty="0">
                          <a:cs typeface="+mn-lt"/>
                        </a:rPr>
                        <a:t>Year</a:t>
                      </a:r>
                    </a:p>
                  </a:txBody>
                  <a:tcPr>
                    <a:solidFill>
                      <a:schemeClr val="bg1"/>
                    </a:solidFill>
                  </a:tcPr>
                </a:tc>
                <a:extLst>
                  <a:ext uri="{0D108BD9-81ED-4DB2-BD59-A6C34878D82A}">
                    <a16:rowId xmlns:a16="http://schemas.microsoft.com/office/drawing/2014/main" val="10000"/>
                  </a:ext>
                </a:extLst>
              </a:tr>
              <a:tr h="1270432">
                <a:tc>
                  <a:txBody>
                    <a:bodyPr/>
                    <a:lstStyle/>
                    <a:p>
                      <a:pPr algn="l"/>
                      <a:r>
                        <a:rPr lang="en-US" sz="1800" dirty="0">
                          <a:cs typeface="+mn-lt"/>
                        </a:rPr>
                        <a:t>1</a:t>
                      </a:r>
                    </a:p>
                  </a:txBody>
                  <a:tcPr>
                    <a:solidFill>
                      <a:schemeClr val="bg1">
                        <a:lumMod val="85000"/>
                      </a:schemeClr>
                    </a:solidFill>
                  </a:tcPr>
                </a:tc>
                <a:tc>
                  <a:txBody>
                    <a:bodyPr/>
                    <a:lstStyle/>
                    <a:p>
                      <a:pPr algn="l"/>
                      <a:r>
                        <a:rPr lang="en-US" sz="1800" dirty="0">
                          <a:cs typeface="+mn-lt"/>
                        </a:rPr>
                        <a:t>Brandon Buell, Carissa Chen, Reda Cherif, Hyeon-Jae Seo, Jiawen Tang, and Nils Wendt</a:t>
                      </a:r>
                    </a:p>
                  </a:txBody>
                  <a:tcPr>
                    <a:solidFill>
                      <a:schemeClr val="bg1">
                        <a:lumMod val="85000"/>
                      </a:schemeClr>
                    </a:solidFill>
                  </a:tcPr>
                </a:tc>
                <a:tc>
                  <a:txBody>
                    <a:bodyPr/>
                    <a:lstStyle/>
                    <a:p>
                      <a:pPr algn="l"/>
                      <a:r>
                        <a:rPr lang="en-US" sz="1800" dirty="0">
                          <a:cs typeface="+mn-lt"/>
                        </a:rPr>
                        <a:t>Elastic net, SVR, random forest, XGBoost, and Voting Regression</a:t>
                      </a:r>
                    </a:p>
                  </a:txBody>
                  <a:tcPr>
                    <a:solidFill>
                      <a:schemeClr val="bg1">
                        <a:lumMod val="85000"/>
                      </a:schemeClr>
                    </a:solidFill>
                  </a:tcPr>
                </a:tc>
                <a:tc>
                  <a:txBody>
                    <a:bodyPr/>
                    <a:lstStyle/>
                    <a:p>
                      <a:pPr algn="l"/>
                      <a:r>
                        <a:rPr lang="en-US" sz="1800" b="0" i="0" kern="1200" dirty="0">
                          <a:solidFill>
                            <a:schemeClr val="dk1"/>
                          </a:solidFill>
                          <a:effectLst/>
                          <a:ea typeface="+mn-ea"/>
                          <a:cs typeface="+mn-lt"/>
                        </a:rPr>
                        <a:t>In one of the past research work, the researchers Implemented an approach for greater f</a:t>
                      </a:r>
                      <a:r>
                        <a:rPr lang="en-US" dirty="0">
                          <a:cs typeface="+mn-lt"/>
                        </a:rPr>
                        <a:t>lexibility to generate model predictions without the need to wait for all variables to be updated at month or quarter end</a:t>
                      </a:r>
                      <a:endParaRPr lang="en-US" sz="1800" dirty="0">
                        <a:cs typeface="+mn-lt"/>
                      </a:endParaRPr>
                    </a:p>
                  </a:txBody>
                  <a:tcPr>
                    <a:solidFill>
                      <a:schemeClr val="bg1">
                        <a:lumMod val="85000"/>
                      </a:schemeClr>
                    </a:solidFill>
                  </a:tcPr>
                </a:tc>
                <a:tc>
                  <a:txBody>
                    <a:bodyPr/>
                    <a:lstStyle/>
                    <a:p>
                      <a:pPr algn="l"/>
                      <a:r>
                        <a:rPr lang="en-US" dirty="0">
                          <a:cs typeface="+mn-lt"/>
                        </a:rPr>
                        <a:t>The Researchers posed that Data limitations pose substantial challenges to evaluating economic activity in real-time for countries in SSA. There is no central repository of high frequency data available for SSA countries and available quarterly or annual macroeconomic data is often further constrained by publishing delays.</a:t>
                      </a:r>
                      <a:endParaRPr lang="en-US" sz="1800" dirty="0">
                        <a:cs typeface="+mn-lt"/>
                      </a:endParaRPr>
                    </a:p>
                  </a:txBody>
                  <a:tcPr>
                    <a:solidFill>
                      <a:schemeClr val="bg1">
                        <a:lumMod val="85000"/>
                      </a:schemeClr>
                    </a:solidFill>
                  </a:tcPr>
                </a:tc>
                <a:tc>
                  <a:txBody>
                    <a:bodyPr/>
                    <a:lstStyle/>
                    <a:p>
                      <a:pPr algn="ctr"/>
                      <a:r>
                        <a:rPr lang="en-US" sz="1800" dirty="0">
                          <a:cs typeface="+mn-lt"/>
                        </a:rPr>
                        <a:t>April 2021</a:t>
                      </a:r>
                    </a:p>
                  </a:txBody>
                  <a:tcPr>
                    <a:solidFill>
                      <a:schemeClr val="bg1">
                        <a:lumMod val="85000"/>
                      </a:scheme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821" y="294374"/>
            <a:ext cx="10515600" cy="1052858"/>
          </a:xfrm>
        </p:spPr>
        <p:txBody>
          <a:bodyPr>
            <a:normAutofit/>
          </a:bodyPr>
          <a:lstStyle/>
          <a:p>
            <a:r>
              <a:rPr lang="en-US" sz="5000" dirty="0">
                <a:cs typeface="Times New Roman" panose="02020603050405020304" pitchFamily="18" charset="0"/>
              </a:rPr>
              <a:t>SUMMARY OF RELATED WORKS</a:t>
            </a:r>
          </a:p>
        </p:txBody>
      </p:sp>
      <p:graphicFrame>
        <p:nvGraphicFramePr>
          <p:cNvPr id="5" name="Table 10"/>
          <p:cNvGraphicFramePr/>
          <p:nvPr/>
        </p:nvGraphicFramePr>
        <p:xfrm>
          <a:off x="458821" y="1690499"/>
          <a:ext cx="11274357" cy="3820269"/>
        </p:xfrm>
        <a:graphic>
          <a:graphicData uri="http://schemas.openxmlformats.org/drawingml/2006/table">
            <a:tbl>
              <a:tblPr firstRow="1" bandRow="1">
                <a:tableStyleId>{D7AC3CCA-C797-4891-BE02-D94E43425B78}</a:tableStyleId>
              </a:tblPr>
              <a:tblGrid>
                <a:gridCol w="784053">
                  <a:extLst>
                    <a:ext uri="{9D8B030D-6E8A-4147-A177-3AD203B41FA5}">
                      <a16:colId xmlns:a16="http://schemas.microsoft.com/office/drawing/2014/main" val="20000"/>
                    </a:ext>
                  </a:extLst>
                </a:gridCol>
                <a:gridCol w="2352582">
                  <a:extLst>
                    <a:ext uri="{9D8B030D-6E8A-4147-A177-3AD203B41FA5}">
                      <a16:colId xmlns:a16="http://schemas.microsoft.com/office/drawing/2014/main" val="20001"/>
                    </a:ext>
                  </a:extLst>
                </a:gridCol>
                <a:gridCol w="2574525">
                  <a:extLst>
                    <a:ext uri="{9D8B030D-6E8A-4147-A177-3AD203B41FA5}">
                      <a16:colId xmlns:a16="http://schemas.microsoft.com/office/drawing/2014/main" val="20002"/>
                    </a:ext>
                  </a:extLst>
                </a:gridCol>
                <a:gridCol w="2476869">
                  <a:extLst>
                    <a:ext uri="{9D8B030D-6E8A-4147-A177-3AD203B41FA5}">
                      <a16:colId xmlns:a16="http://schemas.microsoft.com/office/drawing/2014/main" val="20003"/>
                    </a:ext>
                  </a:extLst>
                </a:gridCol>
                <a:gridCol w="1989485">
                  <a:extLst>
                    <a:ext uri="{9D8B030D-6E8A-4147-A177-3AD203B41FA5}">
                      <a16:colId xmlns:a16="http://schemas.microsoft.com/office/drawing/2014/main" val="20004"/>
                    </a:ext>
                  </a:extLst>
                </a:gridCol>
                <a:gridCol w="1096843">
                  <a:extLst>
                    <a:ext uri="{9D8B030D-6E8A-4147-A177-3AD203B41FA5}">
                      <a16:colId xmlns:a16="http://schemas.microsoft.com/office/drawing/2014/main" val="20005"/>
                    </a:ext>
                  </a:extLst>
                </a:gridCol>
              </a:tblGrid>
              <a:tr h="711200">
                <a:tc>
                  <a:txBody>
                    <a:bodyPr/>
                    <a:lstStyle/>
                    <a:p>
                      <a:pPr algn="ctr"/>
                      <a:r>
                        <a:rPr lang="en-US" sz="3000" dirty="0">
                          <a:cs typeface="+mn-lt"/>
                        </a:rPr>
                        <a:t>S/N</a:t>
                      </a:r>
                    </a:p>
                  </a:txBody>
                  <a:tcPr>
                    <a:solidFill>
                      <a:schemeClr val="bg1"/>
                    </a:solidFill>
                  </a:tcPr>
                </a:tc>
                <a:tc>
                  <a:txBody>
                    <a:bodyPr/>
                    <a:lstStyle/>
                    <a:p>
                      <a:pPr algn="ctr"/>
                      <a:r>
                        <a:rPr lang="en-US" sz="3000" dirty="0">
                          <a:cs typeface="+mn-lt"/>
                        </a:rPr>
                        <a:t>Authors</a:t>
                      </a:r>
                    </a:p>
                  </a:txBody>
                  <a:tcPr>
                    <a:solidFill>
                      <a:schemeClr val="bg1"/>
                    </a:solidFill>
                  </a:tcPr>
                </a:tc>
                <a:tc>
                  <a:txBody>
                    <a:bodyPr/>
                    <a:lstStyle/>
                    <a:p>
                      <a:pPr algn="ctr"/>
                      <a:r>
                        <a:rPr lang="en-US" sz="3000" dirty="0">
                          <a:cs typeface="+mn-lt"/>
                        </a:rPr>
                        <a:t>Methods Used</a:t>
                      </a:r>
                    </a:p>
                  </a:txBody>
                  <a:tcPr>
                    <a:solidFill>
                      <a:schemeClr val="bg1"/>
                    </a:solidFill>
                  </a:tcPr>
                </a:tc>
                <a:tc>
                  <a:txBody>
                    <a:bodyPr/>
                    <a:lstStyle/>
                    <a:p>
                      <a:pPr algn="ctr"/>
                      <a:r>
                        <a:rPr lang="en-US" sz="3000" dirty="0">
                          <a:cs typeface="+mn-lt"/>
                        </a:rPr>
                        <a:t>Strength</a:t>
                      </a:r>
                    </a:p>
                  </a:txBody>
                  <a:tcPr>
                    <a:solidFill>
                      <a:schemeClr val="bg1"/>
                    </a:solidFill>
                  </a:tcPr>
                </a:tc>
                <a:tc>
                  <a:txBody>
                    <a:bodyPr/>
                    <a:lstStyle/>
                    <a:p>
                      <a:pPr algn="ctr"/>
                      <a:r>
                        <a:rPr lang="en-US" sz="3000" dirty="0">
                          <a:cs typeface="+mn-lt"/>
                        </a:rPr>
                        <a:t>Weakness</a:t>
                      </a:r>
                    </a:p>
                  </a:txBody>
                  <a:tcPr>
                    <a:solidFill>
                      <a:schemeClr val="bg1"/>
                    </a:solidFill>
                  </a:tcPr>
                </a:tc>
                <a:tc>
                  <a:txBody>
                    <a:bodyPr/>
                    <a:lstStyle/>
                    <a:p>
                      <a:pPr algn="ctr"/>
                      <a:r>
                        <a:rPr lang="en-US" sz="3000" dirty="0">
                          <a:cs typeface="+mn-lt"/>
                        </a:rPr>
                        <a:t>Year</a:t>
                      </a:r>
                    </a:p>
                  </a:txBody>
                  <a:tcPr>
                    <a:solidFill>
                      <a:schemeClr val="bg1"/>
                    </a:solidFill>
                  </a:tcPr>
                </a:tc>
                <a:extLst>
                  <a:ext uri="{0D108BD9-81ED-4DB2-BD59-A6C34878D82A}">
                    <a16:rowId xmlns:a16="http://schemas.microsoft.com/office/drawing/2014/main" val="10000"/>
                  </a:ext>
                </a:extLst>
              </a:tr>
              <a:tr h="1654005">
                <a:tc>
                  <a:txBody>
                    <a:bodyPr/>
                    <a:lstStyle/>
                    <a:p>
                      <a:pPr algn="l"/>
                      <a:r>
                        <a:rPr lang="en-US" sz="1800" dirty="0">
                          <a:cs typeface="+mn-lt"/>
                        </a:rPr>
                        <a:t>2</a:t>
                      </a:r>
                    </a:p>
                  </a:txBody>
                  <a:tcPr>
                    <a:solidFill>
                      <a:schemeClr val="bg1">
                        <a:lumMod val="85000"/>
                      </a:schemeClr>
                    </a:solidFill>
                  </a:tcPr>
                </a:tc>
                <a:tc>
                  <a:txBody>
                    <a:bodyPr/>
                    <a:lstStyle/>
                    <a:p>
                      <a:pPr algn="l"/>
                      <a:r>
                        <a:rPr lang="en-US" sz="1800" b="0" i="0" u="none" strike="noStrike" kern="1200" dirty="0">
                          <a:solidFill>
                            <a:schemeClr val="tx1"/>
                          </a:solidFill>
                          <a:effectLst/>
                          <a:ea typeface="+mn-ea"/>
                          <a:cs typeface="+mn-lt"/>
                        </a:rPr>
                        <a:t>Abhishek Jaglan,Daksh Trehan, Priyansh Singhal</a:t>
                      </a:r>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b="0" i="0" kern="1200" dirty="0">
                          <a:solidFill>
                            <a:schemeClr val="dk1"/>
                          </a:solidFill>
                          <a:effectLst/>
                          <a:ea typeface="+mn-ea"/>
                          <a:cs typeface="+mn-lt"/>
                        </a:rPr>
                        <a:t> Dashboard(using Django for the backend and HTML, CSS and JavaScript), </a:t>
                      </a:r>
                      <a:r>
                        <a:rPr lang="en-US" sz="1800" b="0" i="1" kern="1200" dirty="0">
                          <a:solidFill>
                            <a:schemeClr val="dk1"/>
                          </a:solidFill>
                          <a:effectLst/>
                          <a:ea typeface="+mn-ea"/>
                          <a:cs typeface="+mn-lt"/>
                        </a:rPr>
                        <a:t>K</a:t>
                      </a:r>
                      <a:r>
                        <a:rPr lang="en-US" sz="1800" b="0" i="0" kern="1200" dirty="0">
                          <a:solidFill>
                            <a:schemeClr val="dk1"/>
                          </a:solidFill>
                          <a:effectLst/>
                          <a:ea typeface="+mn-ea"/>
                          <a:cs typeface="+mn-lt"/>
                        </a:rPr>
                        <a:t>-means statistical clustering analysis, Simple and Polynomial Linear Regression, TF-IDF Vectorization</a:t>
                      </a:r>
                      <a:endParaRPr lang="en-US" sz="1800" dirty="0">
                        <a:cs typeface="+mn-lt"/>
                      </a:endParaRPr>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b="0" i="0" kern="1200" dirty="0">
                          <a:solidFill>
                            <a:schemeClr val="dk1"/>
                          </a:solidFill>
                          <a:effectLst/>
                          <a:ea typeface="+mn-ea"/>
                          <a:cs typeface="+mn-lt"/>
                        </a:rPr>
                        <a:t>In one of the past research work, the researchers successfully proposed a display of comprehensive steps taken to implement better prediction and understanding of virus’s spread in form of a dashboard.</a:t>
                      </a:r>
                      <a:endParaRPr lang="en-US" sz="1800" dirty="0">
                        <a:cs typeface="+mn-lt"/>
                      </a:endParaRPr>
                    </a:p>
                    <a:p>
                      <a:pPr algn="l"/>
                      <a:endParaRPr lang="en-US" sz="1800" dirty="0">
                        <a:cs typeface="+mn-lt"/>
                      </a:endParaRPr>
                    </a:p>
                  </a:txBody>
                  <a:tcPr>
                    <a:solidFill>
                      <a:schemeClr val="bg1">
                        <a:lumMod val="85000"/>
                      </a:schemeClr>
                    </a:solidFill>
                  </a:tcPr>
                </a:tc>
                <a:tc>
                  <a:txBody>
                    <a:bodyPr/>
                    <a:lstStyle/>
                    <a:p>
                      <a:pPr algn="l"/>
                      <a:r>
                        <a:rPr lang="en-US" dirty="0">
                          <a:cs typeface="+mn-lt"/>
                        </a:rPr>
                        <a:t>The Researchers encountered some challenges when they tried to create similarities between question corpus that they fetched and the queries asked by the user</a:t>
                      </a:r>
                      <a:endParaRPr lang="en-US" sz="1800" dirty="0">
                        <a:cs typeface="+mn-lt"/>
                      </a:endParaRPr>
                    </a:p>
                  </a:txBody>
                  <a:tcPr>
                    <a:solidFill>
                      <a:schemeClr val="bg1">
                        <a:lumMod val="85000"/>
                      </a:schemeClr>
                    </a:solidFill>
                  </a:tcPr>
                </a:tc>
                <a:tc>
                  <a:txBody>
                    <a:bodyPr/>
                    <a:lstStyle/>
                    <a:p>
                      <a:pPr algn="ctr"/>
                      <a:r>
                        <a:rPr lang="en-US" sz="1800" dirty="0">
                          <a:cs typeface="+mn-lt"/>
                        </a:rPr>
                        <a:t>Dec, 2020</a:t>
                      </a:r>
                    </a:p>
                  </a:txBody>
                  <a:tcPr>
                    <a:solidFill>
                      <a:schemeClr val="bg1">
                        <a:lumMod val="85000"/>
                      </a:scheme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3451" y="221643"/>
            <a:ext cx="10515600" cy="1052858"/>
          </a:xfrm>
        </p:spPr>
        <p:txBody>
          <a:bodyPr>
            <a:normAutofit/>
          </a:bodyPr>
          <a:lstStyle/>
          <a:p>
            <a:r>
              <a:rPr lang="en-US" sz="5000" dirty="0">
                <a:cs typeface="Times New Roman" panose="02020603050405020304" pitchFamily="18" charset="0"/>
              </a:rPr>
              <a:t>SUMMARY OF RELATED WORKS</a:t>
            </a:r>
          </a:p>
        </p:txBody>
      </p:sp>
      <p:graphicFrame>
        <p:nvGraphicFramePr>
          <p:cNvPr id="5" name="Table 10"/>
          <p:cNvGraphicFramePr/>
          <p:nvPr/>
        </p:nvGraphicFramePr>
        <p:xfrm>
          <a:off x="293451" y="1452246"/>
          <a:ext cx="11605097" cy="5041513"/>
        </p:xfrm>
        <a:graphic>
          <a:graphicData uri="http://schemas.openxmlformats.org/drawingml/2006/table">
            <a:tbl>
              <a:tblPr firstRow="1" bandRow="1">
                <a:tableStyleId>{D7AC3CCA-C797-4891-BE02-D94E43425B78}</a:tableStyleId>
              </a:tblPr>
              <a:tblGrid>
                <a:gridCol w="805789">
                  <a:extLst>
                    <a:ext uri="{9D8B030D-6E8A-4147-A177-3AD203B41FA5}">
                      <a16:colId xmlns:a16="http://schemas.microsoft.com/office/drawing/2014/main" val="20000"/>
                    </a:ext>
                  </a:extLst>
                </a:gridCol>
                <a:gridCol w="2147542">
                  <a:extLst>
                    <a:ext uri="{9D8B030D-6E8A-4147-A177-3AD203B41FA5}">
                      <a16:colId xmlns:a16="http://schemas.microsoft.com/office/drawing/2014/main" val="20001"/>
                    </a:ext>
                  </a:extLst>
                </a:gridCol>
                <a:gridCol w="2584174">
                  <a:extLst>
                    <a:ext uri="{9D8B030D-6E8A-4147-A177-3AD203B41FA5}">
                      <a16:colId xmlns:a16="http://schemas.microsoft.com/office/drawing/2014/main" val="20002"/>
                    </a:ext>
                  </a:extLst>
                </a:gridCol>
                <a:gridCol w="2557670">
                  <a:extLst>
                    <a:ext uri="{9D8B030D-6E8A-4147-A177-3AD203B41FA5}">
                      <a16:colId xmlns:a16="http://schemas.microsoft.com/office/drawing/2014/main" val="20003"/>
                    </a:ext>
                  </a:extLst>
                </a:gridCol>
                <a:gridCol w="2292626">
                  <a:extLst>
                    <a:ext uri="{9D8B030D-6E8A-4147-A177-3AD203B41FA5}">
                      <a16:colId xmlns:a16="http://schemas.microsoft.com/office/drawing/2014/main" val="20004"/>
                    </a:ext>
                  </a:extLst>
                </a:gridCol>
                <a:gridCol w="1217296">
                  <a:extLst>
                    <a:ext uri="{9D8B030D-6E8A-4147-A177-3AD203B41FA5}">
                      <a16:colId xmlns:a16="http://schemas.microsoft.com/office/drawing/2014/main" val="20005"/>
                    </a:ext>
                  </a:extLst>
                </a:gridCol>
              </a:tblGrid>
              <a:tr h="560705">
                <a:tc>
                  <a:txBody>
                    <a:bodyPr/>
                    <a:lstStyle/>
                    <a:p>
                      <a:pPr algn="ctr"/>
                      <a:r>
                        <a:rPr lang="en-US" sz="3000" dirty="0">
                          <a:cs typeface="+mn-lt"/>
                        </a:rPr>
                        <a:t>S/N</a:t>
                      </a:r>
                    </a:p>
                  </a:txBody>
                  <a:tcPr>
                    <a:solidFill>
                      <a:schemeClr val="bg1"/>
                    </a:solidFill>
                  </a:tcPr>
                </a:tc>
                <a:tc>
                  <a:txBody>
                    <a:bodyPr/>
                    <a:lstStyle/>
                    <a:p>
                      <a:pPr algn="ctr"/>
                      <a:r>
                        <a:rPr lang="en-US" sz="3000" dirty="0">
                          <a:cs typeface="+mn-lt"/>
                        </a:rPr>
                        <a:t>Authors</a:t>
                      </a:r>
                    </a:p>
                  </a:txBody>
                  <a:tcPr>
                    <a:solidFill>
                      <a:schemeClr val="bg1"/>
                    </a:solidFill>
                  </a:tcPr>
                </a:tc>
                <a:tc>
                  <a:txBody>
                    <a:bodyPr/>
                    <a:lstStyle/>
                    <a:p>
                      <a:pPr algn="ctr"/>
                      <a:r>
                        <a:rPr lang="en-US" sz="3000" dirty="0">
                          <a:cs typeface="+mn-lt"/>
                        </a:rPr>
                        <a:t>Methods Used</a:t>
                      </a:r>
                    </a:p>
                  </a:txBody>
                  <a:tcPr>
                    <a:solidFill>
                      <a:schemeClr val="bg1"/>
                    </a:solidFill>
                  </a:tcPr>
                </a:tc>
                <a:tc>
                  <a:txBody>
                    <a:bodyPr/>
                    <a:lstStyle/>
                    <a:p>
                      <a:pPr algn="ctr"/>
                      <a:r>
                        <a:rPr lang="en-US" sz="3000" dirty="0">
                          <a:cs typeface="+mn-lt"/>
                        </a:rPr>
                        <a:t>Strength</a:t>
                      </a:r>
                    </a:p>
                  </a:txBody>
                  <a:tcPr>
                    <a:solidFill>
                      <a:schemeClr val="bg1"/>
                    </a:solidFill>
                  </a:tcPr>
                </a:tc>
                <a:tc>
                  <a:txBody>
                    <a:bodyPr/>
                    <a:lstStyle/>
                    <a:p>
                      <a:pPr algn="ctr"/>
                      <a:r>
                        <a:rPr lang="en-US" sz="3000" dirty="0">
                          <a:cs typeface="+mn-lt"/>
                        </a:rPr>
                        <a:t>Weakness</a:t>
                      </a:r>
                    </a:p>
                  </a:txBody>
                  <a:tcPr>
                    <a:solidFill>
                      <a:schemeClr val="bg1"/>
                    </a:solidFill>
                  </a:tcPr>
                </a:tc>
                <a:tc>
                  <a:txBody>
                    <a:bodyPr/>
                    <a:lstStyle/>
                    <a:p>
                      <a:pPr algn="ctr"/>
                      <a:r>
                        <a:rPr lang="en-US" sz="3000" dirty="0">
                          <a:cs typeface="+mn-lt"/>
                        </a:rPr>
                        <a:t>Year</a:t>
                      </a:r>
                    </a:p>
                  </a:txBody>
                  <a:tcPr>
                    <a:solidFill>
                      <a:schemeClr val="bg1"/>
                    </a:solidFill>
                  </a:tcPr>
                </a:tc>
                <a:extLst>
                  <a:ext uri="{0D108BD9-81ED-4DB2-BD59-A6C34878D82A}">
                    <a16:rowId xmlns:a16="http://schemas.microsoft.com/office/drawing/2014/main" val="10000"/>
                  </a:ext>
                </a:extLst>
              </a:tr>
              <a:tr h="3030509">
                <a:tc>
                  <a:txBody>
                    <a:bodyPr/>
                    <a:lstStyle/>
                    <a:p>
                      <a:pPr algn="l"/>
                      <a:r>
                        <a:rPr lang="en-US" sz="1800" dirty="0">
                          <a:cs typeface="+mn-lt"/>
                        </a:rPr>
                        <a:t>3</a:t>
                      </a:r>
                    </a:p>
                  </a:txBody>
                  <a:tcPr>
                    <a:solidFill>
                      <a:schemeClr val="bg1">
                        <a:lumMod val="85000"/>
                      </a:schemeClr>
                    </a:solidFill>
                  </a:tcPr>
                </a:tc>
                <a:tc>
                  <a:txBody>
                    <a:bodyPr/>
                    <a:lstStyle/>
                    <a:p>
                      <a:pPr algn="l"/>
                      <a:r>
                        <a:rPr lang="en-US" sz="1800" b="0" i="0" u="none" strike="noStrike" kern="1200" dirty="0">
                          <a:solidFill>
                            <a:schemeClr val="tx1"/>
                          </a:solidFill>
                          <a:effectLst/>
                          <a:ea typeface="+mn-ea"/>
                          <a:cs typeface="+mn-lt"/>
                        </a:rPr>
                        <a:t>S</a:t>
                      </a:r>
                      <a:r>
                        <a:rPr lang="en-US" sz="1800" b="0" i="0" u="none" strike="noStrike" kern="1200" dirty="0">
                          <a:solidFill>
                            <a:schemeClr val="dk1"/>
                          </a:solidFill>
                          <a:effectLst/>
                          <a:ea typeface="+mn-ea"/>
                          <a:cs typeface="+mn-lt"/>
                        </a:rPr>
                        <a:t>a</a:t>
                      </a:r>
                      <a:r>
                        <a:rPr lang="en-US" sz="1800" b="0" i="0" kern="1200" dirty="0">
                          <a:solidFill>
                            <a:schemeClr val="dk1"/>
                          </a:solidFill>
                          <a:effectLst/>
                          <a:ea typeface="+mn-ea"/>
                          <a:cs typeface="+mn-lt"/>
                        </a:rPr>
                        <a:t>mobi Andrew </a:t>
                      </a:r>
                    </a:p>
                    <a:p>
                      <a:pPr algn="l"/>
                      <a:r>
                        <a:rPr lang="en-US" sz="1800" b="0" i="0" kern="1200" dirty="0">
                          <a:solidFill>
                            <a:schemeClr val="dk1"/>
                          </a:solidFill>
                          <a:effectLst/>
                          <a:ea typeface="+mn-ea"/>
                          <a:cs typeface="+mn-lt"/>
                        </a:rPr>
                        <a:t>Onovo, Akinyemi Atobatele, Abiye Kalaiwo, Christopher Obanubi, Dolapo </a:t>
                      </a:r>
                      <a:r>
                        <a:rPr lang="en-US" sz="1800" b="0" i="0" kern="1200" dirty="0" err="1">
                          <a:solidFill>
                            <a:schemeClr val="dk1"/>
                          </a:solidFill>
                          <a:effectLst/>
                          <a:ea typeface="+mn-ea"/>
                          <a:cs typeface="+mn-lt"/>
                        </a:rPr>
                        <a:t>Ogundehin</a:t>
                      </a:r>
                      <a:r>
                        <a:rPr lang="en-US" sz="1800" b="0" i="0" kern="1200" dirty="0">
                          <a:solidFill>
                            <a:schemeClr val="dk1"/>
                          </a:solidFill>
                          <a:effectLst/>
                          <a:ea typeface="+mn-ea"/>
                          <a:cs typeface="+mn-lt"/>
                        </a:rPr>
                        <a:t>, Michele Russell</a:t>
                      </a:r>
                      <a:endParaRPr lang="en-US" sz="1800" dirty="0">
                        <a:cs typeface="+mn-lt"/>
                      </a:endParaRPr>
                    </a:p>
                  </a:txBody>
                  <a:tcPr>
                    <a:solidFill>
                      <a:schemeClr val="bg1">
                        <a:lumMod val="85000"/>
                      </a:schemeClr>
                    </a:solidFill>
                  </a:tcPr>
                </a:tc>
                <a:tc>
                  <a:txBody>
                    <a:bodyPr/>
                    <a:lstStyle/>
                    <a:p>
                      <a:pPr algn="l"/>
                      <a:r>
                        <a:rPr lang="en-US" sz="1800" b="0" i="0" kern="1200" dirty="0">
                          <a:solidFill>
                            <a:schemeClr val="dk1"/>
                          </a:solidFill>
                          <a:effectLst/>
                          <a:ea typeface="+mn-ea"/>
                          <a:cs typeface="+mn-lt"/>
                        </a:rPr>
                        <a:t>Supervised Machine Learning and Empirical Bayesian Kriging (EBK) techniques, </a:t>
                      </a:r>
                      <a:r>
                        <a:rPr lang="en-US" sz="1800" b="0" i="0" kern="1200" dirty="0">
                          <a:solidFill>
                            <a:schemeClr val="dk1"/>
                          </a:solidFill>
                          <a:effectLst/>
                          <a:ea typeface="Tahoma" panose="020B0604030504040204" pitchFamily="34" charset="0"/>
                          <a:cs typeface="+mn-lt"/>
                        </a:rPr>
                        <a:t>Lasso regression</a:t>
                      </a:r>
                      <a:endParaRPr lang="en-US" sz="1800" dirty="0">
                        <a:ea typeface="Tahoma" panose="020B0604030504040204" pitchFamily="34" charset="0"/>
                        <a:cs typeface="+mn-lt"/>
                      </a:endParaRPr>
                    </a:p>
                  </a:txBody>
                  <a:tcPr>
                    <a:solidFill>
                      <a:schemeClr val="bg1">
                        <a:lumMod val="85000"/>
                      </a:schemeClr>
                    </a:solidFill>
                  </a:tcPr>
                </a:tc>
                <a:tc>
                  <a:txBody>
                    <a:bodyPr/>
                    <a:lstStyle/>
                    <a:p>
                      <a:pPr algn="l"/>
                      <a:r>
                        <a:rPr lang="en-US" sz="1800" b="0" i="0" kern="1200" dirty="0">
                          <a:solidFill>
                            <a:schemeClr val="dk1"/>
                          </a:solidFill>
                          <a:effectLst/>
                          <a:ea typeface="+mn-ea"/>
                          <a:cs typeface="+mn-lt"/>
                        </a:rPr>
                        <a:t>In one of the past research work, the researchers identified some variables that were significantly associated with the risk of coronavirus infection. They discussed the factors of coronavirus highlighted in our lasso model under two dimensions – 1.) infectious diseases: HIV, pneumonia, malaria, and diarrhea. 2.) growth rate- time.</a:t>
                      </a:r>
                    </a:p>
                  </a:txBody>
                  <a:tcPr>
                    <a:solidFill>
                      <a:schemeClr val="bg1">
                        <a:lumMod val="85000"/>
                      </a:schemeClr>
                    </a:solidFill>
                  </a:tcPr>
                </a:tc>
                <a:tc>
                  <a:txBody>
                    <a:bodyPr/>
                    <a:lstStyle/>
                    <a:p>
                      <a:pPr algn="l"/>
                      <a:r>
                        <a:rPr lang="en-US" sz="1800" b="0" i="0" kern="1200" dirty="0">
                          <a:solidFill>
                            <a:schemeClr val="dk1"/>
                          </a:solidFill>
                          <a:effectLst/>
                          <a:ea typeface="+mn-ea"/>
                          <a:cs typeface="+mn-lt"/>
                        </a:rPr>
                        <a:t>The random</a:t>
                      </a:r>
                    </a:p>
                    <a:p>
                      <a:pPr algn="l"/>
                      <a:r>
                        <a:rPr lang="en-US" sz="1800" b="0" i="0" kern="1200" dirty="0">
                          <a:solidFill>
                            <a:schemeClr val="dk1"/>
                          </a:solidFill>
                          <a:effectLst/>
                          <a:ea typeface="+mn-ea"/>
                          <a:cs typeface="+mn-lt"/>
                        </a:rPr>
                        <a:t>distribution pattern of the research work about the coronavirus infection as indicated in the researchers study suggests that they cannot control the coronavirus pandemic by targeting interventions to a specific region or country.</a:t>
                      </a:r>
                      <a:endParaRPr lang="en-US" sz="1800" dirty="0">
                        <a:cs typeface="+mn-lt"/>
                      </a:endParaRPr>
                    </a:p>
                  </a:txBody>
                  <a:tcPr>
                    <a:solidFill>
                      <a:schemeClr val="bg1">
                        <a:lumMod val="85000"/>
                      </a:schemeClr>
                    </a:solidFill>
                  </a:tcPr>
                </a:tc>
                <a:tc>
                  <a:txBody>
                    <a:bodyPr/>
                    <a:lstStyle/>
                    <a:p>
                      <a:pPr algn="l"/>
                      <a:r>
                        <a:rPr lang="en-US" sz="1800" dirty="0">
                          <a:cs typeface="+mn-lt"/>
                        </a:rPr>
                        <a:t>May, 2020</a:t>
                      </a:r>
                    </a:p>
                  </a:txBody>
                  <a:tcPr>
                    <a:solidFill>
                      <a:schemeClr val="bg1">
                        <a:lumMod val="85000"/>
                      </a:scheme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821" y="248147"/>
            <a:ext cx="10515600" cy="1052858"/>
          </a:xfrm>
        </p:spPr>
        <p:txBody>
          <a:bodyPr>
            <a:normAutofit/>
          </a:bodyPr>
          <a:lstStyle/>
          <a:p>
            <a:r>
              <a:rPr lang="en-US" sz="5000" dirty="0">
                <a:cs typeface="Times New Roman" panose="02020603050405020304" pitchFamily="18" charset="0"/>
              </a:rPr>
              <a:t>SUMMARY OF RELATED WORKS</a:t>
            </a:r>
          </a:p>
        </p:txBody>
      </p:sp>
      <p:graphicFrame>
        <p:nvGraphicFramePr>
          <p:cNvPr id="5" name="Table 10"/>
          <p:cNvGraphicFramePr/>
          <p:nvPr/>
        </p:nvGraphicFramePr>
        <p:xfrm>
          <a:off x="458821" y="1438708"/>
          <a:ext cx="11274357" cy="3271629"/>
        </p:xfrm>
        <a:graphic>
          <a:graphicData uri="http://schemas.openxmlformats.org/drawingml/2006/table">
            <a:tbl>
              <a:tblPr firstRow="1" bandRow="1">
                <a:tableStyleId>{D7AC3CCA-C797-4891-BE02-D94E43425B78}</a:tableStyleId>
              </a:tblPr>
              <a:tblGrid>
                <a:gridCol w="784053">
                  <a:extLst>
                    <a:ext uri="{9D8B030D-6E8A-4147-A177-3AD203B41FA5}">
                      <a16:colId xmlns:a16="http://schemas.microsoft.com/office/drawing/2014/main" val="20000"/>
                    </a:ext>
                  </a:extLst>
                </a:gridCol>
                <a:gridCol w="2352582">
                  <a:extLst>
                    <a:ext uri="{9D8B030D-6E8A-4147-A177-3AD203B41FA5}">
                      <a16:colId xmlns:a16="http://schemas.microsoft.com/office/drawing/2014/main" val="20001"/>
                    </a:ext>
                  </a:extLst>
                </a:gridCol>
                <a:gridCol w="2574525">
                  <a:extLst>
                    <a:ext uri="{9D8B030D-6E8A-4147-A177-3AD203B41FA5}">
                      <a16:colId xmlns:a16="http://schemas.microsoft.com/office/drawing/2014/main" val="20002"/>
                    </a:ext>
                  </a:extLst>
                </a:gridCol>
                <a:gridCol w="2476869">
                  <a:extLst>
                    <a:ext uri="{9D8B030D-6E8A-4147-A177-3AD203B41FA5}">
                      <a16:colId xmlns:a16="http://schemas.microsoft.com/office/drawing/2014/main" val="20003"/>
                    </a:ext>
                  </a:extLst>
                </a:gridCol>
                <a:gridCol w="1989485">
                  <a:extLst>
                    <a:ext uri="{9D8B030D-6E8A-4147-A177-3AD203B41FA5}">
                      <a16:colId xmlns:a16="http://schemas.microsoft.com/office/drawing/2014/main" val="20004"/>
                    </a:ext>
                  </a:extLst>
                </a:gridCol>
                <a:gridCol w="1096843">
                  <a:extLst>
                    <a:ext uri="{9D8B030D-6E8A-4147-A177-3AD203B41FA5}">
                      <a16:colId xmlns:a16="http://schemas.microsoft.com/office/drawing/2014/main" val="20005"/>
                    </a:ext>
                  </a:extLst>
                </a:gridCol>
              </a:tblGrid>
              <a:tr h="711309">
                <a:tc>
                  <a:txBody>
                    <a:bodyPr/>
                    <a:lstStyle/>
                    <a:p>
                      <a:pPr algn="ctr"/>
                      <a:r>
                        <a:rPr lang="en-US" sz="3000" dirty="0">
                          <a:cs typeface="+mn-lt"/>
                        </a:rPr>
                        <a:t>S/N</a:t>
                      </a:r>
                    </a:p>
                  </a:txBody>
                  <a:tcPr>
                    <a:solidFill>
                      <a:schemeClr val="bg1"/>
                    </a:solidFill>
                  </a:tcPr>
                </a:tc>
                <a:tc>
                  <a:txBody>
                    <a:bodyPr/>
                    <a:lstStyle/>
                    <a:p>
                      <a:pPr algn="ctr"/>
                      <a:r>
                        <a:rPr lang="en-US" sz="3000" dirty="0">
                          <a:cs typeface="+mn-lt"/>
                        </a:rPr>
                        <a:t>Authors</a:t>
                      </a:r>
                    </a:p>
                  </a:txBody>
                  <a:tcPr>
                    <a:solidFill>
                      <a:schemeClr val="bg1"/>
                    </a:solidFill>
                  </a:tcPr>
                </a:tc>
                <a:tc>
                  <a:txBody>
                    <a:bodyPr/>
                    <a:lstStyle/>
                    <a:p>
                      <a:pPr algn="ctr"/>
                      <a:r>
                        <a:rPr lang="en-US" sz="3000" dirty="0">
                          <a:cs typeface="+mn-lt"/>
                        </a:rPr>
                        <a:t>Methods Used</a:t>
                      </a:r>
                    </a:p>
                  </a:txBody>
                  <a:tcPr>
                    <a:solidFill>
                      <a:schemeClr val="bg1"/>
                    </a:solidFill>
                  </a:tcPr>
                </a:tc>
                <a:tc>
                  <a:txBody>
                    <a:bodyPr/>
                    <a:lstStyle/>
                    <a:p>
                      <a:pPr algn="ctr"/>
                      <a:r>
                        <a:rPr lang="en-US" sz="3000" dirty="0">
                          <a:cs typeface="+mn-lt"/>
                        </a:rPr>
                        <a:t>Strength</a:t>
                      </a:r>
                    </a:p>
                  </a:txBody>
                  <a:tcPr>
                    <a:solidFill>
                      <a:schemeClr val="bg1"/>
                    </a:solidFill>
                  </a:tcPr>
                </a:tc>
                <a:tc>
                  <a:txBody>
                    <a:bodyPr/>
                    <a:lstStyle/>
                    <a:p>
                      <a:pPr algn="ctr"/>
                      <a:r>
                        <a:rPr lang="en-US" sz="3000" dirty="0">
                          <a:cs typeface="+mn-lt"/>
                        </a:rPr>
                        <a:t>Weakness</a:t>
                      </a:r>
                    </a:p>
                  </a:txBody>
                  <a:tcPr>
                    <a:solidFill>
                      <a:schemeClr val="bg1"/>
                    </a:solidFill>
                  </a:tcPr>
                </a:tc>
                <a:tc>
                  <a:txBody>
                    <a:bodyPr/>
                    <a:lstStyle/>
                    <a:p>
                      <a:pPr algn="ctr"/>
                      <a:r>
                        <a:rPr lang="en-US" sz="3000" dirty="0">
                          <a:cs typeface="+mn-lt"/>
                        </a:rPr>
                        <a:t>Year</a:t>
                      </a:r>
                    </a:p>
                  </a:txBody>
                  <a:tcPr>
                    <a:solidFill>
                      <a:schemeClr val="bg1"/>
                    </a:solidFill>
                  </a:tcPr>
                </a:tc>
                <a:extLst>
                  <a:ext uri="{0D108BD9-81ED-4DB2-BD59-A6C34878D82A}">
                    <a16:rowId xmlns:a16="http://schemas.microsoft.com/office/drawing/2014/main" val="10000"/>
                  </a:ext>
                </a:extLst>
              </a:tr>
              <a:tr h="1654005">
                <a:tc>
                  <a:txBody>
                    <a:bodyPr/>
                    <a:lstStyle/>
                    <a:p>
                      <a:pPr algn="l"/>
                      <a:r>
                        <a:rPr lang="en-US" sz="1800" dirty="0">
                          <a:cs typeface="+mn-lt"/>
                        </a:rPr>
                        <a:t>4</a:t>
                      </a:r>
                    </a:p>
                  </a:txBody>
                  <a:tcPr>
                    <a:solidFill>
                      <a:schemeClr val="bg1">
                        <a:lumMod val="85000"/>
                      </a:schemeClr>
                    </a:solidFill>
                  </a:tcPr>
                </a:tc>
                <a:tc>
                  <a:txBody>
                    <a:bodyPr/>
                    <a:lstStyle/>
                    <a:p>
                      <a:pPr algn="l"/>
                      <a:r>
                        <a:rPr lang="en-US" sz="1800" dirty="0">
                          <a:cs typeface="+mn-lt"/>
                        </a:rPr>
                        <a:t>Sina F. Ardabil, Amir Mosavi, Pedram Ghamisi,  Filip Ferdinard, Timon Rabezuk, Varkonyi-Koeczy</a:t>
                      </a:r>
                    </a:p>
                  </a:txBody>
                  <a:tcPr>
                    <a:solidFill>
                      <a:schemeClr val="bg1">
                        <a:lumMod val="85000"/>
                      </a:schemeClr>
                    </a:solidFill>
                  </a:tcPr>
                </a:tc>
                <a:tc>
                  <a:txBody>
                    <a:bodyPr/>
                    <a:lstStyle/>
                    <a:p>
                      <a:pPr algn="l"/>
                      <a:r>
                        <a:rPr lang="en-US" sz="1800" dirty="0">
                          <a:cs typeface="+mn-lt"/>
                        </a:rPr>
                        <a:t>Logistic, Linear,</a:t>
                      </a:r>
                    </a:p>
                    <a:p>
                      <a:pPr algn="l"/>
                      <a:r>
                        <a:rPr lang="en-US" sz="1800" dirty="0">
                          <a:cs typeface="+mn-lt"/>
                        </a:rPr>
                        <a:t>Quadratic, Cubic, and Exponential Model, Evolutionary Algorithm, Genetic Algorithm, Multi-layered Perceptron</a:t>
                      </a:r>
                    </a:p>
                    <a:p>
                      <a:pPr algn="l"/>
                      <a:r>
                        <a:rPr lang="en-US" sz="1800" dirty="0">
                          <a:cs typeface="+mn-lt"/>
                        </a:rPr>
                        <a:t>(MLP) and Adaptive neuro fuzzy inference system(ANFIS)</a:t>
                      </a:r>
                    </a:p>
                  </a:txBody>
                  <a:tcPr>
                    <a:solidFill>
                      <a:schemeClr val="bg1">
                        <a:lumMod val="85000"/>
                      </a:schemeClr>
                    </a:solidFill>
                  </a:tcPr>
                </a:tc>
                <a:tc>
                  <a:txBody>
                    <a:bodyPr/>
                    <a:lstStyle/>
                    <a:p>
                      <a:pPr algn="l"/>
                      <a:r>
                        <a:rPr lang="en-US" sz="1800" b="0" i="0" kern="1200" dirty="0">
                          <a:solidFill>
                            <a:schemeClr val="dk1"/>
                          </a:solidFill>
                          <a:effectLst/>
                          <a:ea typeface="+mn-ea"/>
                          <a:cs typeface="+mn-lt"/>
                        </a:rPr>
                        <a:t>In one of the past research work, the researchers presents a comparative analysis of ML models(MLP and ANFIS) reported a high generalization ability for long-term prediction</a:t>
                      </a:r>
                    </a:p>
                  </a:txBody>
                  <a:tcPr>
                    <a:solidFill>
                      <a:schemeClr val="bg1">
                        <a:lumMod val="85000"/>
                      </a:schemeClr>
                    </a:solidFill>
                  </a:tcPr>
                </a:tc>
                <a:tc>
                  <a:txBody>
                    <a:bodyPr/>
                    <a:lstStyle/>
                    <a:p>
                      <a:pPr algn="l"/>
                      <a:r>
                        <a:rPr lang="en-US" sz="1800" dirty="0">
                          <a:cs typeface="+mn-lt"/>
                        </a:rPr>
                        <a:t>The researcher encountered some challenges like predicting the maximum number of infected patients of the individual mortality rate.</a:t>
                      </a:r>
                    </a:p>
                  </a:txBody>
                  <a:tcPr>
                    <a:solidFill>
                      <a:schemeClr val="bg1">
                        <a:lumMod val="85000"/>
                      </a:schemeClr>
                    </a:solidFill>
                  </a:tcPr>
                </a:tc>
                <a:tc>
                  <a:txBody>
                    <a:bodyPr/>
                    <a:lstStyle/>
                    <a:p>
                      <a:pPr algn="ctr"/>
                      <a:r>
                        <a:rPr lang="en-US" sz="1800" dirty="0">
                          <a:cs typeface="+mn-lt"/>
                        </a:rPr>
                        <a:t>April, 2020</a:t>
                      </a:r>
                    </a:p>
                  </a:txBody>
                  <a:tcPr>
                    <a:solidFill>
                      <a:schemeClr val="bg1">
                        <a:lumMod val="85000"/>
                      </a:scheme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52858"/>
          </a:xfrm>
        </p:spPr>
        <p:txBody>
          <a:bodyPr>
            <a:normAutofit/>
          </a:bodyPr>
          <a:lstStyle/>
          <a:p>
            <a:r>
              <a:rPr lang="en-US" sz="5000" dirty="0">
                <a:cs typeface="Times New Roman" panose="02020603050405020304" pitchFamily="18" charset="0"/>
              </a:rPr>
              <a:t>RESEARCH GAP</a:t>
            </a:r>
          </a:p>
        </p:txBody>
      </p:sp>
      <p:sp>
        <p:nvSpPr>
          <p:cNvPr id="3" name="Content Placeholder 2"/>
          <p:cNvSpPr>
            <a:spLocks noGrp="1"/>
          </p:cNvSpPr>
          <p:nvPr>
            <p:ph idx="1"/>
          </p:nvPr>
        </p:nvSpPr>
        <p:spPr>
          <a:xfrm>
            <a:off x="838200" y="1984650"/>
            <a:ext cx="10515600" cy="4084845"/>
          </a:xfrm>
        </p:spPr>
        <p:txBody>
          <a:bodyPr>
            <a:normAutofit/>
          </a:bodyPr>
          <a:lstStyle/>
          <a:p>
            <a:pPr>
              <a:lnSpc>
                <a:spcPct val="120000"/>
              </a:lnSpc>
            </a:pPr>
            <a:r>
              <a:rPr lang="en-US" sz="3200" dirty="0">
                <a:cs typeface="+mn-lt"/>
              </a:rPr>
              <a:t>What makes this project different from other projects is that, we made use of 5 supervised models to compare and picked the one that performed best in all 3 target variables which was </a:t>
            </a:r>
            <a:r>
              <a:rPr lang="en-US" sz="3200" b="1" dirty="0">
                <a:cs typeface="+mn-lt"/>
              </a:rPr>
              <a:t>Gradient Boosting</a:t>
            </a:r>
          </a:p>
          <a:p>
            <a:pPr>
              <a:lnSpc>
                <a:spcPct val="120000"/>
              </a:lnSpc>
            </a:pPr>
            <a:r>
              <a:rPr lang="en-US" sz="3200" dirty="0">
                <a:cs typeface="+mn-lt"/>
              </a:rPr>
              <a:t>It is able to predict the economic impact of covid 19 in each of the countries used as a case study</a:t>
            </a:r>
            <a:r>
              <a:rPr lang="en-GB" altLang="en-US" sz="3200" dirty="0">
                <a:cs typeface="+mn-lt"/>
              </a:rPr>
              <a:t>.</a:t>
            </a:r>
            <a:endParaRPr lang="en-US" sz="3200" dirty="0">
              <a:cs typeface="+mn-lt"/>
            </a:endParaRPr>
          </a:p>
          <a:p>
            <a:endParaRPr lang="en-US" sz="3200" dirty="0">
              <a:cs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2604"/>
            <a:ext cx="10515600" cy="1052858"/>
          </a:xfrm>
        </p:spPr>
        <p:txBody>
          <a:bodyPr>
            <a:normAutofit/>
          </a:bodyPr>
          <a:lstStyle/>
          <a:p>
            <a:r>
              <a:rPr lang="en-US" sz="5000" dirty="0">
                <a:cs typeface="Times New Roman" panose="02020603050405020304" pitchFamily="18" charset="0"/>
              </a:rPr>
              <a:t>DESIGN AND METHODOLOGY</a:t>
            </a:r>
          </a:p>
        </p:txBody>
      </p:sp>
      <p:pic>
        <p:nvPicPr>
          <p:cNvPr id="4" name="Content Placeholder 2"/>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1162878" y="1285462"/>
            <a:ext cx="9866244" cy="4926018"/>
          </a:xfrm>
          <a:prstGeom prst="rect">
            <a:avLst/>
          </a:prstGeom>
        </p:spPr>
      </p:pic>
      <p:sp>
        <p:nvSpPr>
          <p:cNvPr id="5" name="TextBox 4"/>
          <p:cNvSpPr txBox="1"/>
          <p:nvPr/>
        </p:nvSpPr>
        <p:spPr>
          <a:xfrm>
            <a:off x="1221167" y="6215875"/>
            <a:ext cx="9160780" cy="553998"/>
          </a:xfrm>
          <a:prstGeom prst="rect">
            <a:avLst/>
          </a:prstGeom>
          <a:noFill/>
        </p:spPr>
        <p:txBody>
          <a:bodyPr wrap="square">
            <a:spAutoFit/>
          </a:bodyPr>
          <a:lstStyle/>
          <a:p>
            <a:pPr algn="ctr"/>
            <a:r>
              <a:rPr lang="en-US" sz="3000" b="1" dirty="0">
                <a:cs typeface="Times New Roman" panose="02020603050405020304" pitchFamily="18" charset="0"/>
              </a:rPr>
              <a:t>Figure 1: </a:t>
            </a:r>
            <a:r>
              <a:rPr lang="en-US" sz="3000" dirty="0">
                <a:cs typeface="Times New Roman" panose="02020603050405020304" pitchFamily="18" charset="0"/>
              </a:rPr>
              <a:t>Proposed Sequence Diagram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2604"/>
            <a:ext cx="10515600" cy="1052858"/>
          </a:xfrm>
        </p:spPr>
        <p:txBody>
          <a:bodyPr>
            <a:normAutofit/>
          </a:bodyPr>
          <a:lstStyle/>
          <a:p>
            <a:r>
              <a:rPr lang="en-US" sz="5000" dirty="0">
                <a:cs typeface="Times New Roman" panose="02020603050405020304" pitchFamily="18" charset="0"/>
              </a:rPr>
              <a:t>DESIGN AND METHODOLOGY</a:t>
            </a:r>
          </a:p>
        </p:txBody>
      </p:sp>
      <p:pic>
        <p:nvPicPr>
          <p:cNvPr id="4" name="Content Placeholder 2"/>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p:blipFill>
        <p:spPr>
          <a:xfrm>
            <a:off x="267652" y="1553566"/>
            <a:ext cx="11656695" cy="4065355"/>
          </a:xfrm>
          <a:prstGeom prst="rect">
            <a:avLst/>
          </a:prstGeom>
        </p:spPr>
      </p:pic>
      <p:sp>
        <p:nvSpPr>
          <p:cNvPr id="5" name="TextBox 4"/>
          <p:cNvSpPr txBox="1"/>
          <p:nvPr/>
        </p:nvSpPr>
        <p:spPr>
          <a:xfrm>
            <a:off x="1515610" y="6071398"/>
            <a:ext cx="9160780" cy="553998"/>
          </a:xfrm>
          <a:prstGeom prst="rect">
            <a:avLst/>
          </a:prstGeom>
          <a:noFill/>
        </p:spPr>
        <p:txBody>
          <a:bodyPr wrap="square">
            <a:spAutoFit/>
          </a:bodyPr>
          <a:lstStyle/>
          <a:p>
            <a:pPr algn="ctr"/>
            <a:r>
              <a:rPr lang="en-US" sz="3000" b="1" dirty="0">
                <a:cs typeface="Times New Roman" panose="02020603050405020304" pitchFamily="18" charset="0"/>
              </a:rPr>
              <a:t>Figure 2: </a:t>
            </a:r>
            <a:r>
              <a:rPr lang="en-US" sz="3000" dirty="0">
                <a:cs typeface="Times New Roman" panose="02020603050405020304" pitchFamily="18" charset="0"/>
              </a:rPr>
              <a:t>Proposed Architecture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25370"/>
            <a:ext cx="10515600" cy="1052858"/>
          </a:xfrm>
        </p:spPr>
        <p:txBody>
          <a:bodyPr>
            <a:normAutofit/>
          </a:bodyPr>
          <a:lstStyle/>
          <a:p>
            <a:r>
              <a:rPr lang="en-US" sz="5000" dirty="0">
                <a:cs typeface="Times New Roman" panose="02020603050405020304" pitchFamily="18" charset="0"/>
              </a:rPr>
              <a:t>IMPLEMENTATION</a:t>
            </a:r>
          </a:p>
        </p:txBody>
      </p:sp>
      <p:pic>
        <p:nvPicPr>
          <p:cNvPr id="4" name="image5.png"/>
          <p:cNvPicPr/>
          <p:nvPr/>
        </p:nvPicPr>
        <p:blipFill>
          <a:blip r:embed="rId2"/>
          <a:srcRect/>
          <a:stretch>
            <a:fillRect/>
          </a:stretch>
        </p:blipFill>
        <p:spPr>
          <a:xfrm>
            <a:off x="1422964" y="1467680"/>
            <a:ext cx="9346069" cy="4657587"/>
          </a:xfrm>
          <a:prstGeom prst="rect">
            <a:avLst/>
          </a:prstGeom>
        </p:spPr>
      </p:pic>
      <p:sp>
        <p:nvSpPr>
          <p:cNvPr id="5" name="TextBox 4"/>
          <p:cNvSpPr txBox="1"/>
          <p:nvPr/>
        </p:nvSpPr>
        <p:spPr>
          <a:xfrm>
            <a:off x="1515608" y="6214719"/>
            <a:ext cx="9160780" cy="553998"/>
          </a:xfrm>
          <a:prstGeom prst="rect">
            <a:avLst/>
          </a:prstGeom>
          <a:noFill/>
        </p:spPr>
        <p:txBody>
          <a:bodyPr wrap="square">
            <a:spAutoFit/>
          </a:bodyPr>
          <a:lstStyle/>
          <a:p>
            <a:pPr algn="ctr"/>
            <a:r>
              <a:rPr lang="en-US" sz="3000" b="1" dirty="0">
                <a:cs typeface="Times New Roman" panose="02020603050405020304" pitchFamily="18" charset="0"/>
              </a:rPr>
              <a:t>Figure 3: </a:t>
            </a:r>
            <a:r>
              <a:rPr lang="en-US" sz="3000" dirty="0">
                <a:cs typeface="Times New Roman" panose="02020603050405020304" pitchFamily="18" charset="0"/>
              </a:rPr>
              <a:t>System Design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25370"/>
            <a:ext cx="10515600" cy="1052858"/>
          </a:xfrm>
        </p:spPr>
        <p:txBody>
          <a:bodyPr>
            <a:normAutofit/>
          </a:bodyPr>
          <a:lstStyle/>
          <a:p>
            <a:r>
              <a:rPr lang="en-US" sz="5000" dirty="0">
                <a:cs typeface="Times New Roman" panose="02020603050405020304" pitchFamily="18" charset="0"/>
              </a:rPr>
              <a:t>IMPLEMENTATION</a:t>
            </a:r>
          </a:p>
        </p:txBody>
      </p:sp>
      <p:sp>
        <p:nvSpPr>
          <p:cNvPr id="5" name="TextBox 4"/>
          <p:cNvSpPr txBox="1"/>
          <p:nvPr/>
        </p:nvSpPr>
        <p:spPr>
          <a:xfrm>
            <a:off x="1515608" y="6214719"/>
            <a:ext cx="9160780" cy="553998"/>
          </a:xfrm>
          <a:prstGeom prst="rect">
            <a:avLst/>
          </a:prstGeom>
          <a:noFill/>
        </p:spPr>
        <p:txBody>
          <a:bodyPr wrap="square">
            <a:spAutoFit/>
          </a:bodyPr>
          <a:lstStyle/>
          <a:p>
            <a:pPr algn="ctr"/>
            <a:r>
              <a:rPr lang="en-US" sz="3000" b="1" dirty="0">
                <a:cs typeface="Times New Roman" panose="02020603050405020304" pitchFamily="18" charset="0"/>
              </a:rPr>
              <a:t>Figure 4: </a:t>
            </a:r>
            <a:r>
              <a:rPr lang="en-US" sz="3000" dirty="0">
                <a:cs typeface="Times New Roman" panose="02020603050405020304" pitchFamily="18" charset="0"/>
              </a:rPr>
              <a:t>System Design 2</a:t>
            </a:r>
          </a:p>
        </p:txBody>
      </p:sp>
      <p:pic>
        <p:nvPicPr>
          <p:cNvPr id="6" name="image18.png"/>
          <p:cNvPicPr/>
          <p:nvPr/>
        </p:nvPicPr>
        <p:blipFill>
          <a:blip r:embed="rId2"/>
          <a:srcRect/>
          <a:stretch>
            <a:fillRect/>
          </a:stretch>
        </p:blipFill>
        <p:spPr>
          <a:xfrm>
            <a:off x="1515608" y="1668919"/>
            <a:ext cx="9160780" cy="425510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25370"/>
            <a:ext cx="10515600" cy="946839"/>
          </a:xfrm>
        </p:spPr>
        <p:txBody>
          <a:bodyPr>
            <a:normAutofit/>
          </a:bodyPr>
          <a:lstStyle/>
          <a:p>
            <a:r>
              <a:rPr lang="en-US" sz="5000" dirty="0">
                <a:cs typeface="Times New Roman" panose="02020603050405020304" pitchFamily="18" charset="0"/>
              </a:rPr>
              <a:t>RESULTS</a:t>
            </a:r>
          </a:p>
        </p:txBody>
      </p:sp>
      <p:sp>
        <p:nvSpPr>
          <p:cNvPr id="5" name="TextBox 4"/>
          <p:cNvSpPr txBox="1"/>
          <p:nvPr/>
        </p:nvSpPr>
        <p:spPr>
          <a:xfrm>
            <a:off x="1338468" y="5985950"/>
            <a:ext cx="9160780" cy="553998"/>
          </a:xfrm>
          <a:prstGeom prst="rect">
            <a:avLst/>
          </a:prstGeom>
          <a:noFill/>
        </p:spPr>
        <p:txBody>
          <a:bodyPr wrap="square">
            <a:spAutoFit/>
          </a:bodyPr>
          <a:lstStyle/>
          <a:p>
            <a:pPr algn="ctr"/>
            <a:r>
              <a:rPr lang="en-US" sz="3000" b="1" dirty="0">
                <a:cs typeface="Times New Roman" panose="02020603050405020304" pitchFamily="18" charset="0"/>
              </a:rPr>
              <a:t>Figure 5: </a:t>
            </a:r>
            <a:r>
              <a:rPr lang="en-US" sz="3000" dirty="0">
                <a:cs typeface="Times New Roman" panose="02020603050405020304" pitchFamily="18" charset="0"/>
              </a:rPr>
              <a:t>Box plot for Food Shopping</a:t>
            </a:r>
            <a:endParaRPr lang="en-US" sz="3000" b="1" dirty="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0665" y="1047750"/>
            <a:ext cx="8815705" cy="504253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10095"/>
            <a:ext cx="10515600" cy="1052858"/>
          </a:xfrm>
        </p:spPr>
        <p:txBody>
          <a:bodyPr>
            <a:normAutofit/>
          </a:bodyPr>
          <a:lstStyle/>
          <a:p>
            <a:r>
              <a:rPr lang="en-US" sz="5000" dirty="0">
                <a:cs typeface="Times New Roman" panose="02020603050405020304" pitchFamily="18" charset="0"/>
              </a:rPr>
              <a:t>RESULTS</a:t>
            </a:r>
          </a:p>
        </p:txBody>
      </p:sp>
      <p:sp>
        <p:nvSpPr>
          <p:cNvPr id="5" name="TextBox 4"/>
          <p:cNvSpPr txBox="1"/>
          <p:nvPr/>
        </p:nvSpPr>
        <p:spPr>
          <a:xfrm>
            <a:off x="3640455" y="5962650"/>
            <a:ext cx="4304665" cy="398780"/>
          </a:xfrm>
          <a:prstGeom prst="rect">
            <a:avLst/>
          </a:prstGeom>
          <a:noFill/>
        </p:spPr>
        <p:txBody>
          <a:bodyPr wrap="square">
            <a:spAutoFit/>
          </a:bodyPr>
          <a:lstStyle/>
          <a:p>
            <a:r>
              <a:rPr lang="en-US" sz="2000" b="1" dirty="0">
                <a:cs typeface="Times New Roman" panose="02020603050405020304" pitchFamily="18" charset="0"/>
              </a:rPr>
              <a:t>Table </a:t>
            </a:r>
            <a:r>
              <a:rPr lang="en-GB" altLang="en-US" sz="2000" b="1" dirty="0">
                <a:cs typeface="Times New Roman" panose="02020603050405020304" pitchFamily="18" charset="0"/>
              </a:rPr>
              <a:t>1</a:t>
            </a:r>
            <a:r>
              <a:rPr lang="en-US" sz="2000" b="1" dirty="0">
                <a:cs typeface="Times New Roman" panose="02020603050405020304" pitchFamily="18" charset="0"/>
              </a:rPr>
              <a:t>:</a:t>
            </a:r>
            <a:r>
              <a:rPr lang="en-US" sz="2000" dirty="0">
                <a:cs typeface="Times New Roman" panose="02020603050405020304" pitchFamily="18" charset="0"/>
              </a:rPr>
              <a:t> Pivot Table for Food Shopping</a:t>
            </a:r>
          </a:p>
        </p:txBody>
      </p:sp>
      <p:graphicFrame>
        <p:nvGraphicFramePr>
          <p:cNvPr id="3" name="Table 2"/>
          <p:cNvGraphicFramePr>
            <a:graphicFrameLocks noGrp="1"/>
          </p:cNvGraphicFramePr>
          <p:nvPr/>
        </p:nvGraphicFramePr>
        <p:xfrm>
          <a:off x="438149" y="1409933"/>
          <a:ext cx="10374630" cy="4116705"/>
        </p:xfrm>
        <a:graphic>
          <a:graphicData uri="http://schemas.openxmlformats.org/drawingml/2006/table">
            <a:tbl>
              <a:tblPr>
                <a:tableStyleId>{5C22544A-7EE6-4342-B048-85BDC9FD1C3A}</a:tableStyleId>
              </a:tblPr>
              <a:tblGrid>
                <a:gridCol w="1749425">
                  <a:extLst>
                    <a:ext uri="{9D8B030D-6E8A-4147-A177-3AD203B41FA5}">
                      <a16:colId xmlns:a16="http://schemas.microsoft.com/office/drawing/2014/main" val="20000"/>
                    </a:ext>
                  </a:extLst>
                </a:gridCol>
                <a:gridCol w="1564640">
                  <a:extLst>
                    <a:ext uri="{9D8B030D-6E8A-4147-A177-3AD203B41FA5}">
                      <a16:colId xmlns:a16="http://schemas.microsoft.com/office/drawing/2014/main" val="20001"/>
                    </a:ext>
                  </a:extLst>
                </a:gridCol>
                <a:gridCol w="1812290">
                  <a:extLst>
                    <a:ext uri="{9D8B030D-6E8A-4147-A177-3AD203B41FA5}">
                      <a16:colId xmlns:a16="http://schemas.microsoft.com/office/drawing/2014/main" val="20002"/>
                    </a:ext>
                  </a:extLst>
                </a:gridCol>
                <a:gridCol w="1835785">
                  <a:extLst>
                    <a:ext uri="{9D8B030D-6E8A-4147-A177-3AD203B41FA5}">
                      <a16:colId xmlns:a16="http://schemas.microsoft.com/office/drawing/2014/main" val="20003"/>
                    </a:ext>
                  </a:extLst>
                </a:gridCol>
                <a:gridCol w="1734185">
                  <a:extLst>
                    <a:ext uri="{9D8B030D-6E8A-4147-A177-3AD203B41FA5}">
                      <a16:colId xmlns:a16="http://schemas.microsoft.com/office/drawing/2014/main" val="20004"/>
                    </a:ext>
                  </a:extLst>
                </a:gridCol>
                <a:gridCol w="1678305">
                  <a:extLst>
                    <a:ext uri="{9D8B030D-6E8A-4147-A177-3AD203B41FA5}">
                      <a16:colId xmlns:a16="http://schemas.microsoft.com/office/drawing/2014/main" val="20005"/>
                    </a:ext>
                  </a:extLst>
                </a:gridCol>
              </a:tblGrid>
              <a:tr h="647700">
                <a:tc>
                  <a:txBody>
                    <a:bodyPr/>
                    <a:lstStyle/>
                    <a:p>
                      <a:pPr marL="0" marR="0" algn="just">
                        <a:lnSpc>
                          <a:spcPct val="80000"/>
                        </a:lnSpc>
                        <a:spcBef>
                          <a:spcPts val="0"/>
                        </a:spcBef>
                        <a:spcAft>
                          <a:spcPts val="1000"/>
                        </a:spcAft>
                      </a:pPr>
                      <a:endParaRPr lang="en-US" sz="2000" b="1" dirty="0">
                        <a:effectLst/>
                        <a:ea typeface="SimSun" panose="02010600030101010101" pitchFamily="2" charset="-122"/>
                        <a:cs typeface="+mn-lt"/>
                      </a:endParaRPr>
                    </a:p>
                  </a:txBody>
                  <a:tcPr marL="68580" marR="68580" marT="0" marB="0">
                    <a:lnT w="12700" cmpd="sng">
                      <a:solidFill>
                        <a:schemeClr val="tx1"/>
                      </a:solidFill>
                      <a:prstDash val="solid"/>
                    </a:lnT>
                    <a:lnB w="12700" cmpd="sng">
                      <a:solidFill>
                        <a:schemeClr val="tx1"/>
                      </a:solidFill>
                      <a:prstDash val="solid"/>
                    </a:lnB>
                    <a:noFill/>
                  </a:tcPr>
                </a:tc>
                <a:tc>
                  <a:txBody>
                    <a:bodyPr/>
                    <a:lstStyle/>
                    <a:p>
                      <a:pPr marL="0" marR="0" algn="l">
                        <a:lnSpc>
                          <a:spcPct val="80000"/>
                        </a:lnSpc>
                        <a:spcBef>
                          <a:spcPts val="0"/>
                        </a:spcBef>
                        <a:spcAft>
                          <a:spcPts val="1000"/>
                        </a:spcAft>
                      </a:pPr>
                      <a:r>
                        <a:rPr lang="en-US" sz="2000" b="1" dirty="0">
                          <a:effectLst/>
                          <a:cs typeface="+mn-lt"/>
                        </a:rPr>
                        <a:t>Aggregate</a:t>
                      </a:r>
                      <a:endParaRPr lang="en-US" sz="2000" b="1" dirty="0">
                        <a:effectLst/>
                        <a:ea typeface="SimSun" panose="02010600030101010101" pitchFamily="2" charset="-122"/>
                        <a:cs typeface="+mn-lt"/>
                      </a:endParaRPr>
                    </a:p>
                  </a:txBody>
                  <a:tcPr marL="68580" marR="68580" marT="0" marB="0">
                    <a:lnT w="12700" cmpd="sng">
                      <a:solidFill>
                        <a:schemeClr val="tx1"/>
                      </a:solidFill>
                      <a:prstDash val="solid"/>
                    </a:lnT>
                    <a:lnB w="12700" cmpd="sng">
                      <a:solidFill>
                        <a:schemeClr val="tx1"/>
                      </a:solidFill>
                      <a:prstDash val="solid"/>
                    </a:lnB>
                    <a:noFill/>
                  </a:tcPr>
                </a:tc>
                <a:tc>
                  <a:txBody>
                    <a:bodyPr/>
                    <a:lstStyle/>
                    <a:p>
                      <a:pPr marL="0" marR="0" algn="ctr">
                        <a:lnSpc>
                          <a:spcPct val="80000"/>
                        </a:lnSpc>
                        <a:spcBef>
                          <a:spcPts val="0"/>
                        </a:spcBef>
                        <a:spcAft>
                          <a:spcPts val="1000"/>
                        </a:spcAft>
                      </a:pPr>
                      <a:r>
                        <a:rPr lang="en-US" sz="2000" b="1" dirty="0">
                          <a:effectLst/>
                          <a:ea typeface="SimSun" panose="02010600030101010101" pitchFamily="2" charset="-122"/>
                          <a:cs typeface="+mn-lt"/>
                        </a:rPr>
                        <a:t>Less often than usual</a:t>
                      </a:r>
                    </a:p>
                  </a:txBody>
                  <a:tcPr marL="68580" marR="68580" marT="0" marB="0">
                    <a:lnT w="12700" cmpd="sng">
                      <a:solidFill>
                        <a:schemeClr val="tx1"/>
                      </a:solidFill>
                      <a:prstDash val="solid"/>
                    </a:lnT>
                    <a:lnB w="12700" cmpd="sng">
                      <a:solidFill>
                        <a:schemeClr val="tx1"/>
                      </a:solidFill>
                      <a:prstDash val="solid"/>
                    </a:lnB>
                    <a:noFill/>
                  </a:tcPr>
                </a:tc>
                <a:tc>
                  <a:txBody>
                    <a:bodyPr/>
                    <a:lstStyle/>
                    <a:p>
                      <a:pPr marL="0" marR="0" algn="ctr">
                        <a:lnSpc>
                          <a:spcPct val="80000"/>
                        </a:lnSpc>
                        <a:spcBef>
                          <a:spcPts val="0"/>
                        </a:spcBef>
                        <a:spcAft>
                          <a:spcPts val="1000"/>
                        </a:spcAft>
                      </a:pPr>
                      <a:r>
                        <a:rPr lang="en-US" sz="2000" b="1" dirty="0">
                          <a:effectLst/>
                          <a:ea typeface="SimSun" panose="02010600030101010101" pitchFamily="2" charset="-122"/>
                          <a:cs typeface="+mn-lt"/>
                        </a:rPr>
                        <a:t>More often than usual</a:t>
                      </a:r>
                    </a:p>
                  </a:txBody>
                  <a:tcPr marL="68580" marR="68580" marT="0" marB="0">
                    <a:lnT w="12700" cmpd="sng">
                      <a:solidFill>
                        <a:schemeClr val="tx1"/>
                      </a:solidFill>
                      <a:prstDash val="solid"/>
                    </a:lnT>
                    <a:lnB w="12700" cmpd="sng">
                      <a:solidFill>
                        <a:schemeClr val="tx1"/>
                      </a:solidFill>
                      <a:prstDash val="solid"/>
                    </a:lnB>
                    <a:noFill/>
                  </a:tcPr>
                </a:tc>
                <a:tc>
                  <a:txBody>
                    <a:bodyPr/>
                    <a:lstStyle/>
                    <a:p>
                      <a:pPr marL="0" marR="0" algn="ctr">
                        <a:lnSpc>
                          <a:spcPct val="80000"/>
                        </a:lnSpc>
                        <a:spcBef>
                          <a:spcPts val="0"/>
                        </a:spcBef>
                        <a:spcAft>
                          <a:spcPts val="1000"/>
                        </a:spcAft>
                      </a:pPr>
                      <a:r>
                        <a:rPr lang="en-US" sz="2000" b="1" dirty="0">
                          <a:effectLst/>
                          <a:ea typeface="SimSun" panose="02010600030101010101" pitchFamily="2" charset="-122"/>
                          <a:cs typeface="+mn-lt"/>
                        </a:rPr>
                        <a:t>Same as usual [no Total]</a:t>
                      </a:r>
                    </a:p>
                  </a:txBody>
                  <a:tcPr marL="68580" marR="68580" marT="0" marB="0">
                    <a:lnT w="12700" cmpd="sng">
                      <a:solidFill>
                        <a:schemeClr val="tx1"/>
                      </a:solidFill>
                      <a:prstDash val="solid"/>
                    </a:lnT>
                    <a:lnB w="12700" cmpd="sng">
                      <a:solidFill>
                        <a:schemeClr val="tx1"/>
                      </a:solidFill>
                      <a:prstDash val="solid"/>
                    </a:lnB>
                    <a:noFill/>
                  </a:tcPr>
                </a:tc>
                <a:tc>
                  <a:txBody>
                    <a:bodyPr/>
                    <a:lstStyle/>
                    <a:p>
                      <a:pPr marL="0" marR="0" algn="ctr">
                        <a:lnSpc>
                          <a:spcPct val="80000"/>
                        </a:lnSpc>
                        <a:spcBef>
                          <a:spcPts val="0"/>
                        </a:spcBef>
                        <a:spcAft>
                          <a:spcPts val="1000"/>
                        </a:spcAft>
                      </a:pPr>
                      <a:r>
                        <a:rPr lang="en-US" sz="2000" b="1" dirty="0">
                          <a:effectLst/>
                          <a:ea typeface="SimSun" panose="02010600030101010101" pitchFamily="2" charset="-122"/>
                          <a:cs typeface="+mn-lt"/>
                        </a:rPr>
                        <a:t>Total</a:t>
                      </a:r>
                    </a:p>
                  </a:txBody>
                  <a:tcPr marL="68580" marR="68580" marT="0" marB="0">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0"/>
                  </a:ext>
                </a:extLst>
              </a:tr>
              <a:tr h="742315">
                <a:tc>
                  <a:txBody>
                    <a:bodyPr/>
                    <a:lstStyle/>
                    <a:p>
                      <a:pPr marL="0" marR="0" algn="just">
                        <a:lnSpc>
                          <a:spcPct val="80000"/>
                        </a:lnSpc>
                        <a:spcBef>
                          <a:spcPts val="0"/>
                        </a:spcBef>
                        <a:spcAft>
                          <a:spcPts val="1000"/>
                        </a:spcAft>
                      </a:pPr>
                      <a:r>
                        <a:rPr lang="en-US" sz="2000" b="1" dirty="0">
                          <a:effectLst/>
                          <a:ea typeface="SimSun" panose="02010600030101010101" pitchFamily="2" charset="-122"/>
                          <a:cs typeface="+mn-lt"/>
                        </a:rPr>
                        <a:t>Less often than usual</a:t>
                      </a:r>
                    </a:p>
                  </a:txBody>
                  <a:tcPr marL="68580" marR="68580" marT="0" marB="0">
                    <a:lnT w="12700" cmpd="sng">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marL="457200" algn="l">
                        <a:lnSpc>
                          <a:spcPct val="80000"/>
                        </a:lnSpc>
                        <a:spcAft>
                          <a:spcPts val="1000"/>
                        </a:spcAft>
                      </a:pPr>
                      <a:r>
                        <a:rPr lang="en-US" sz="2000" dirty="0">
                          <a:effectLst/>
                          <a:ea typeface="SimSun" panose="02010600030101010101" pitchFamily="2" charset="-122"/>
                          <a:cs typeface="+mn-lt"/>
                        </a:rPr>
                        <a:t>Count Majority</a:t>
                      </a:r>
                    </a:p>
                  </a:txBody>
                  <a:tcPr marL="68580" marR="68580" marT="0" marB="0">
                    <a:lnT w="12700" cmpd="sng">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ea typeface="SimSun" panose="02010600030101010101" pitchFamily="2" charset="-122"/>
                          <a:cs typeface="+mn-lt"/>
                        </a:rPr>
                        <a:t>2449.0</a:t>
                      </a:r>
                    </a:p>
                    <a:p>
                      <a:pPr marL="0" marR="0" algn="ctr">
                        <a:lnSpc>
                          <a:spcPct val="80000"/>
                        </a:lnSpc>
                        <a:spcBef>
                          <a:spcPts val="0"/>
                        </a:spcBef>
                        <a:spcAft>
                          <a:spcPts val="1000"/>
                        </a:spcAft>
                      </a:pPr>
                      <a:r>
                        <a:rPr lang="en-US" sz="2000" b="1" dirty="0">
                          <a:effectLst/>
                          <a:ea typeface="SimSun" panose="02010600030101010101" pitchFamily="2" charset="-122"/>
                          <a:cs typeface="+mn-lt"/>
                        </a:rPr>
                        <a:t>Rwanda</a:t>
                      </a:r>
                    </a:p>
                  </a:txBody>
                  <a:tcPr marL="68580" marR="68580" marT="0" marB="0">
                    <a:lnT w="12700" cmpd="sng">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ea typeface="SimSun" panose="02010600030101010101" pitchFamily="2" charset="-122"/>
                          <a:cs typeface="+mn-lt"/>
                        </a:rPr>
                        <a:t>0.0</a:t>
                      </a:r>
                    </a:p>
                    <a:p>
                      <a:pPr marL="0" marR="0" algn="ctr">
                        <a:lnSpc>
                          <a:spcPct val="80000"/>
                        </a:lnSpc>
                        <a:spcBef>
                          <a:spcPts val="0"/>
                        </a:spcBef>
                        <a:spcAft>
                          <a:spcPts val="1000"/>
                        </a:spcAft>
                      </a:pPr>
                      <a:r>
                        <a:rPr lang="en-US" sz="2000" dirty="0">
                          <a:effectLst/>
                          <a:ea typeface="SimSun" panose="02010600030101010101" pitchFamily="2" charset="-122"/>
                          <a:cs typeface="+mn-lt"/>
                        </a:rPr>
                        <a:t>?</a:t>
                      </a:r>
                    </a:p>
                  </a:txBody>
                  <a:tcPr marL="68580" marR="68580" marT="0" marB="0">
                    <a:lnT w="12700" cmpd="sng">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ea typeface="SimSun" panose="02010600030101010101" pitchFamily="2" charset="-122"/>
                          <a:cs typeface="+mn-lt"/>
                        </a:rPr>
                        <a:t>0.0</a:t>
                      </a:r>
                    </a:p>
                    <a:p>
                      <a:pPr marL="0" marR="0" algn="ctr">
                        <a:lnSpc>
                          <a:spcPct val="80000"/>
                        </a:lnSpc>
                        <a:spcBef>
                          <a:spcPts val="0"/>
                        </a:spcBef>
                        <a:spcAft>
                          <a:spcPts val="1000"/>
                        </a:spcAft>
                      </a:pPr>
                      <a:r>
                        <a:rPr lang="en-US" sz="2000" dirty="0">
                          <a:effectLst/>
                          <a:ea typeface="SimSun" panose="02010600030101010101" pitchFamily="2" charset="-122"/>
                          <a:cs typeface="+mn-lt"/>
                        </a:rPr>
                        <a:t>?</a:t>
                      </a:r>
                    </a:p>
                  </a:txBody>
                  <a:tcPr marL="68580" marR="68580" marT="0" marB="0">
                    <a:lnT w="12700" cmpd="sng">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ea typeface="SimSun" panose="02010600030101010101" pitchFamily="2" charset="-122"/>
                          <a:cs typeface="+mn-lt"/>
                        </a:rPr>
                        <a:t>2449.0</a:t>
                      </a:r>
                    </a:p>
                    <a:p>
                      <a:pPr marL="0" marR="0" algn="ctr">
                        <a:lnSpc>
                          <a:spcPct val="80000"/>
                        </a:lnSpc>
                        <a:spcBef>
                          <a:spcPts val="0"/>
                        </a:spcBef>
                        <a:spcAft>
                          <a:spcPts val="1000"/>
                        </a:spcAft>
                      </a:pPr>
                      <a:r>
                        <a:rPr lang="en-US" sz="2000" dirty="0">
                          <a:effectLst/>
                          <a:ea typeface="SimSun" panose="02010600030101010101" pitchFamily="2" charset="-122"/>
                          <a:cs typeface="+mn-lt"/>
                        </a:rPr>
                        <a:t>Rwanda</a:t>
                      </a:r>
                    </a:p>
                  </a:txBody>
                  <a:tcPr marL="68580" marR="68580" marT="0" marB="0">
                    <a:lnT w="12700" cmpd="sng">
                      <a:solidFill>
                        <a:schemeClr val="tx1"/>
                      </a:solidFill>
                      <a:prstDash val="soli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89330">
                <a:tc>
                  <a:txBody>
                    <a:bodyPr/>
                    <a:lstStyle/>
                    <a:p>
                      <a:pPr marL="0" marR="0" algn="just">
                        <a:lnSpc>
                          <a:spcPct val="80000"/>
                        </a:lnSpc>
                        <a:spcBef>
                          <a:spcPts val="0"/>
                        </a:spcBef>
                        <a:spcAft>
                          <a:spcPts val="1000"/>
                        </a:spcAft>
                      </a:pPr>
                      <a:r>
                        <a:rPr lang="en-US" sz="2000" b="1" dirty="0">
                          <a:effectLst/>
                          <a:ea typeface="SimSun" panose="02010600030101010101" pitchFamily="2" charset="-122"/>
                          <a:cs typeface="+mn-lt"/>
                        </a:rPr>
                        <a:t>More often than usual</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457200" algn="l">
                        <a:lnSpc>
                          <a:spcPct val="80000"/>
                        </a:lnSpc>
                        <a:spcAft>
                          <a:spcPts val="1000"/>
                        </a:spcAft>
                      </a:pPr>
                      <a:r>
                        <a:rPr lang="en-US" sz="2000" dirty="0">
                          <a:effectLst/>
                          <a:ea typeface="SimSun" panose="02010600030101010101" pitchFamily="2" charset="-122"/>
                          <a:cs typeface="+mn-lt"/>
                        </a:rPr>
                        <a:t>Count Majority</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cs typeface="+mn-lt"/>
                        </a:rPr>
                        <a:t>0.0</a:t>
                      </a:r>
                    </a:p>
                    <a:p>
                      <a:pPr marL="0" marR="0" algn="ctr">
                        <a:lnSpc>
                          <a:spcPct val="80000"/>
                        </a:lnSpc>
                        <a:spcBef>
                          <a:spcPts val="0"/>
                        </a:spcBef>
                        <a:spcAft>
                          <a:spcPts val="1000"/>
                        </a:spcAft>
                      </a:pPr>
                      <a:r>
                        <a:rPr lang="en-US" sz="2000" dirty="0">
                          <a:effectLst/>
                          <a:ea typeface="SimSun" panose="02010600030101010101" pitchFamily="2" charset="-122"/>
                          <a:cs typeface="+mn-lt"/>
                        </a:rPr>
                        <a:t>?</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ea typeface="SimSun" panose="02010600030101010101" pitchFamily="2" charset="-122"/>
                          <a:cs typeface="+mn-lt"/>
                        </a:rPr>
                        <a:t>784.0</a:t>
                      </a:r>
                    </a:p>
                    <a:p>
                      <a:pPr marL="0" marR="0" algn="ctr">
                        <a:lnSpc>
                          <a:spcPct val="80000"/>
                        </a:lnSpc>
                        <a:spcBef>
                          <a:spcPts val="0"/>
                        </a:spcBef>
                        <a:spcAft>
                          <a:spcPts val="1000"/>
                        </a:spcAft>
                      </a:pPr>
                      <a:r>
                        <a:rPr lang="en-US" sz="2000" b="1" kern="1200" dirty="0">
                          <a:solidFill>
                            <a:schemeClr val="dk1"/>
                          </a:solidFill>
                          <a:effectLst/>
                          <a:ea typeface="+mn-ea"/>
                          <a:cs typeface="+mn-lt"/>
                        </a:rPr>
                        <a:t>Ivory Coast (Cote D’Ivoire)</a:t>
                      </a:r>
                      <a:endParaRPr lang="en-US" sz="2000" b="1" dirty="0">
                        <a:effectLst/>
                        <a:ea typeface="SimSun" panose="02010600030101010101" pitchFamily="2" charset="-122"/>
                        <a:cs typeface="+mn-lt"/>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cs typeface="+mn-lt"/>
                        </a:rPr>
                        <a:t>0.0</a:t>
                      </a:r>
                    </a:p>
                    <a:p>
                      <a:pPr marL="0" marR="0" algn="ctr">
                        <a:lnSpc>
                          <a:spcPct val="80000"/>
                        </a:lnSpc>
                        <a:spcBef>
                          <a:spcPts val="0"/>
                        </a:spcBef>
                        <a:spcAft>
                          <a:spcPts val="1000"/>
                        </a:spcAft>
                      </a:pPr>
                      <a:r>
                        <a:rPr lang="en-US" sz="2000" dirty="0">
                          <a:effectLst/>
                          <a:ea typeface="SimSun" panose="02010600030101010101" pitchFamily="2" charset="-122"/>
                          <a:cs typeface="+mn-lt"/>
                        </a:rPr>
                        <a:t>?</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ea typeface="SimSun" panose="02010600030101010101" pitchFamily="2" charset="-122"/>
                          <a:cs typeface="+mn-lt"/>
                        </a:rPr>
                        <a:t>784.0</a:t>
                      </a:r>
                    </a:p>
                    <a:p>
                      <a:pPr marL="0" marR="0" algn="ctr">
                        <a:lnSpc>
                          <a:spcPct val="80000"/>
                        </a:lnSpc>
                        <a:spcBef>
                          <a:spcPts val="0"/>
                        </a:spcBef>
                        <a:spcAft>
                          <a:spcPts val="1000"/>
                        </a:spcAft>
                      </a:pPr>
                      <a:r>
                        <a:rPr lang="en-US" sz="2000" kern="1200" dirty="0">
                          <a:solidFill>
                            <a:schemeClr val="dk1"/>
                          </a:solidFill>
                          <a:effectLst/>
                          <a:ea typeface="+mn-ea"/>
                          <a:cs typeface="+mn-lt"/>
                        </a:rPr>
                        <a:t>Ivory Coast (Cote D’Ivoire)</a:t>
                      </a:r>
                      <a:endParaRPr lang="en-US" sz="2000" dirty="0">
                        <a:effectLst/>
                        <a:ea typeface="SimSun" panose="02010600030101010101" pitchFamily="2" charset="-122"/>
                        <a:cs typeface="+mn-lt"/>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868680">
                <a:tc>
                  <a:txBody>
                    <a:bodyPr/>
                    <a:lstStyle/>
                    <a:p>
                      <a:pPr marL="0" marR="0" algn="just">
                        <a:lnSpc>
                          <a:spcPct val="80000"/>
                        </a:lnSpc>
                        <a:spcBef>
                          <a:spcPts val="0"/>
                        </a:spcBef>
                        <a:spcAft>
                          <a:spcPts val="1000"/>
                        </a:spcAft>
                      </a:pPr>
                      <a:r>
                        <a:rPr lang="en-US" sz="2000" b="1" dirty="0">
                          <a:effectLst/>
                          <a:ea typeface="SimSun" panose="02010600030101010101" pitchFamily="2" charset="-122"/>
                          <a:cs typeface="+mn-lt"/>
                        </a:rPr>
                        <a:t>Same as usual [no change]</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457200" algn="l">
                        <a:lnSpc>
                          <a:spcPct val="80000"/>
                        </a:lnSpc>
                        <a:spcAft>
                          <a:spcPts val="1000"/>
                        </a:spcAft>
                      </a:pPr>
                      <a:r>
                        <a:rPr lang="en-US" sz="2000" dirty="0">
                          <a:effectLst/>
                          <a:ea typeface="SimSun" panose="02010600030101010101" pitchFamily="2" charset="-122"/>
                          <a:cs typeface="+mn-lt"/>
                        </a:rPr>
                        <a:t>Count Majority</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ea typeface="SimSun" panose="02010600030101010101" pitchFamily="2" charset="-122"/>
                          <a:cs typeface="+mn-lt"/>
                        </a:rPr>
                        <a:t>0.0</a:t>
                      </a:r>
                    </a:p>
                    <a:p>
                      <a:pPr marL="0" marR="0" algn="ctr">
                        <a:lnSpc>
                          <a:spcPct val="80000"/>
                        </a:lnSpc>
                        <a:spcBef>
                          <a:spcPts val="0"/>
                        </a:spcBef>
                        <a:spcAft>
                          <a:spcPts val="1000"/>
                        </a:spcAft>
                      </a:pPr>
                      <a:r>
                        <a:rPr lang="en-US" sz="2000" dirty="0">
                          <a:effectLst/>
                          <a:ea typeface="SimSun" panose="02010600030101010101" pitchFamily="2" charset="-122"/>
                          <a:cs typeface="+mn-lt"/>
                        </a:rPr>
                        <a:t>?</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ea typeface="SimSun" panose="02010600030101010101" pitchFamily="2" charset="-122"/>
                          <a:cs typeface="+mn-lt"/>
                        </a:rPr>
                        <a:t>0.0</a:t>
                      </a:r>
                    </a:p>
                    <a:p>
                      <a:pPr marL="0" marR="0" algn="ctr">
                        <a:lnSpc>
                          <a:spcPct val="80000"/>
                        </a:lnSpc>
                        <a:spcBef>
                          <a:spcPts val="0"/>
                        </a:spcBef>
                        <a:spcAft>
                          <a:spcPts val="1000"/>
                        </a:spcAft>
                      </a:pPr>
                      <a:r>
                        <a:rPr lang="en-US" sz="2000" dirty="0">
                          <a:effectLst/>
                          <a:ea typeface="SimSun" panose="02010600030101010101" pitchFamily="2" charset="-122"/>
                          <a:cs typeface="+mn-lt"/>
                        </a:rPr>
                        <a:t>?</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ea typeface="SimSun" panose="02010600030101010101" pitchFamily="2" charset="-122"/>
                          <a:cs typeface="+mn-lt"/>
                        </a:rPr>
                        <a:t>755.0</a:t>
                      </a:r>
                    </a:p>
                    <a:p>
                      <a:pPr marL="0" marR="0" algn="ctr">
                        <a:lnSpc>
                          <a:spcPct val="80000"/>
                        </a:lnSpc>
                        <a:spcBef>
                          <a:spcPts val="0"/>
                        </a:spcBef>
                        <a:spcAft>
                          <a:spcPts val="1000"/>
                        </a:spcAft>
                      </a:pPr>
                      <a:r>
                        <a:rPr lang="en-US" sz="2000" b="1" kern="1200" dirty="0">
                          <a:solidFill>
                            <a:schemeClr val="dk1"/>
                          </a:solidFill>
                          <a:effectLst/>
                          <a:ea typeface="+mn-ea"/>
                          <a:cs typeface="+mn-lt"/>
                        </a:rPr>
                        <a:t>Ivory Coast (Cote D’Ivoire)</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ea typeface="SimSun" panose="02010600030101010101" pitchFamily="2" charset="-122"/>
                          <a:cs typeface="+mn-lt"/>
                        </a:rPr>
                        <a:t>755.0</a:t>
                      </a:r>
                    </a:p>
                    <a:p>
                      <a:pPr marL="0" marR="0" algn="ctr">
                        <a:lnSpc>
                          <a:spcPct val="80000"/>
                        </a:lnSpc>
                        <a:spcBef>
                          <a:spcPts val="0"/>
                        </a:spcBef>
                        <a:spcAft>
                          <a:spcPts val="1000"/>
                        </a:spcAft>
                      </a:pPr>
                      <a:r>
                        <a:rPr lang="en-US" sz="2000" kern="1200" dirty="0">
                          <a:solidFill>
                            <a:schemeClr val="dk1"/>
                          </a:solidFill>
                          <a:effectLst/>
                          <a:ea typeface="+mn-ea"/>
                          <a:cs typeface="+mn-lt"/>
                        </a:rPr>
                        <a:t>Ivory Coast (Cote D’Ivoire)</a:t>
                      </a:r>
                      <a:endParaRPr lang="en-US" sz="2000" dirty="0">
                        <a:effectLst/>
                        <a:ea typeface="SimSun" panose="02010600030101010101" pitchFamily="2" charset="-122"/>
                        <a:cs typeface="+mn-lt"/>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868680">
                <a:tc>
                  <a:txBody>
                    <a:bodyPr/>
                    <a:lstStyle/>
                    <a:p>
                      <a:pPr marL="0" marR="0" algn="just">
                        <a:lnSpc>
                          <a:spcPct val="80000"/>
                        </a:lnSpc>
                        <a:spcBef>
                          <a:spcPts val="0"/>
                        </a:spcBef>
                        <a:spcAft>
                          <a:spcPts val="1000"/>
                        </a:spcAft>
                      </a:pPr>
                      <a:r>
                        <a:rPr lang="en-US" sz="2000" b="1" dirty="0">
                          <a:effectLst/>
                          <a:cs typeface="+mn-lt"/>
                        </a:rPr>
                        <a:t>Total</a:t>
                      </a:r>
                      <a:endParaRPr lang="en-US" sz="2000" b="1" dirty="0">
                        <a:effectLst/>
                        <a:ea typeface="SimSun" panose="02010600030101010101" pitchFamily="2" charset="-122"/>
                        <a:cs typeface="+mn-lt"/>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457200" algn="l">
                        <a:lnSpc>
                          <a:spcPct val="80000"/>
                        </a:lnSpc>
                        <a:spcAft>
                          <a:spcPts val="1000"/>
                        </a:spcAft>
                      </a:pPr>
                      <a:r>
                        <a:rPr lang="en-US" sz="2000" dirty="0">
                          <a:effectLst/>
                          <a:ea typeface="SimSun" panose="02010600030101010101" pitchFamily="2" charset="-122"/>
                          <a:cs typeface="+mn-lt"/>
                        </a:rPr>
                        <a:t>Count Majority</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ea typeface="SimSun" panose="02010600030101010101" pitchFamily="2" charset="-122"/>
                          <a:cs typeface="+mn-lt"/>
                        </a:rPr>
                        <a:t>2449.0</a:t>
                      </a:r>
                    </a:p>
                    <a:p>
                      <a:pPr marL="0" marR="0" algn="ctr">
                        <a:lnSpc>
                          <a:spcPct val="80000"/>
                        </a:lnSpc>
                        <a:spcBef>
                          <a:spcPts val="0"/>
                        </a:spcBef>
                        <a:spcAft>
                          <a:spcPts val="1000"/>
                        </a:spcAft>
                      </a:pPr>
                      <a:r>
                        <a:rPr lang="en-US" sz="2000" dirty="0">
                          <a:effectLst/>
                          <a:ea typeface="SimSun" panose="02010600030101010101" pitchFamily="2" charset="-122"/>
                          <a:cs typeface="+mn-lt"/>
                        </a:rPr>
                        <a:t>Rwanda</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ea typeface="SimSun" panose="02010600030101010101" pitchFamily="2" charset="-122"/>
                          <a:cs typeface="+mn-lt"/>
                        </a:rPr>
                        <a:t>784.0</a:t>
                      </a:r>
                    </a:p>
                    <a:p>
                      <a:pPr marL="0" marR="0" algn="ctr">
                        <a:lnSpc>
                          <a:spcPct val="80000"/>
                        </a:lnSpc>
                        <a:spcBef>
                          <a:spcPts val="0"/>
                        </a:spcBef>
                        <a:spcAft>
                          <a:spcPts val="1000"/>
                        </a:spcAft>
                      </a:pPr>
                      <a:r>
                        <a:rPr lang="en-US" sz="2000" kern="1200" dirty="0">
                          <a:solidFill>
                            <a:schemeClr val="dk1"/>
                          </a:solidFill>
                          <a:effectLst/>
                          <a:ea typeface="+mn-ea"/>
                          <a:cs typeface="+mn-lt"/>
                        </a:rPr>
                        <a:t>Ivory Coast (Cote D’Ivoire)</a:t>
                      </a:r>
                      <a:endParaRPr lang="en-US" sz="2000" dirty="0">
                        <a:effectLst/>
                        <a:ea typeface="SimSun" panose="02010600030101010101" pitchFamily="2" charset="-122"/>
                        <a:cs typeface="+mn-lt"/>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ea typeface="SimSun" panose="02010600030101010101" pitchFamily="2" charset="-122"/>
                          <a:cs typeface="+mn-lt"/>
                        </a:rPr>
                        <a:t>755.0</a:t>
                      </a:r>
                    </a:p>
                    <a:p>
                      <a:pPr marL="0" marR="0" algn="ctr">
                        <a:lnSpc>
                          <a:spcPct val="80000"/>
                        </a:lnSpc>
                        <a:spcBef>
                          <a:spcPts val="0"/>
                        </a:spcBef>
                        <a:spcAft>
                          <a:spcPts val="1000"/>
                        </a:spcAft>
                      </a:pPr>
                      <a:r>
                        <a:rPr lang="en-US" sz="2000" kern="1200" dirty="0">
                          <a:solidFill>
                            <a:schemeClr val="dk1"/>
                          </a:solidFill>
                          <a:effectLst/>
                          <a:ea typeface="+mn-ea"/>
                          <a:cs typeface="+mn-lt"/>
                        </a:rPr>
                        <a:t>Ivory Coast (Cote D’Ivoire)</a:t>
                      </a:r>
                      <a:endParaRPr lang="en-US" sz="2000" dirty="0">
                        <a:effectLst/>
                        <a:ea typeface="SimSun" panose="02010600030101010101" pitchFamily="2" charset="-122"/>
                        <a:cs typeface="+mn-lt"/>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cs typeface="+mn-lt"/>
                        </a:rPr>
                        <a:t>3988.0</a:t>
                      </a:r>
                    </a:p>
                    <a:p>
                      <a:pPr marL="0" marR="0" algn="ctr">
                        <a:lnSpc>
                          <a:spcPct val="80000"/>
                        </a:lnSpc>
                        <a:spcBef>
                          <a:spcPts val="0"/>
                        </a:spcBef>
                        <a:spcAft>
                          <a:spcPts val="1000"/>
                        </a:spcAft>
                      </a:pPr>
                      <a:r>
                        <a:rPr lang="en-US" sz="3200" b="1" dirty="0">
                          <a:effectLst/>
                          <a:ea typeface="SimSun" panose="02010600030101010101" pitchFamily="2" charset="-122"/>
                          <a:cs typeface="+mn-lt"/>
                        </a:rPr>
                        <a:t>Benin</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25370"/>
            <a:ext cx="10515600" cy="1052858"/>
          </a:xfrm>
        </p:spPr>
        <p:txBody>
          <a:bodyPr>
            <a:normAutofit/>
          </a:bodyPr>
          <a:lstStyle/>
          <a:p>
            <a:r>
              <a:rPr lang="en-US" sz="5000" dirty="0">
                <a:cs typeface="Times New Roman" panose="02020603050405020304" pitchFamily="18" charset="0"/>
              </a:rPr>
              <a:t>RESULTS</a:t>
            </a:r>
          </a:p>
        </p:txBody>
      </p:sp>
      <p:sp>
        <p:nvSpPr>
          <p:cNvPr id="5" name="TextBox 4"/>
          <p:cNvSpPr txBox="1"/>
          <p:nvPr/>
        </p:nvSpPr>
        <p:spPr>
          <a:xfrm>
            <a:off x="2193019" y="6084649"/>
            <a:ext cx="7333118" cy="398780"/>
          </a:xfrm>
          <a:prstGeom prst="rect">
            <a:avLst/>
          </a:prstGeom>
          <a:noFill/>
        </p:spPr>
        <p:txBody>
          <a:bodyPr wrap="square">
            <a:spAutoFit/>
          </a:bodyPr>
          <a:lstStyle/>
          <a:p>
            <a:r>
              <a:rPr lang="en-US" sz="2000" b="1" dirty="0">
                <a:cs typeface="Times New Roman" panose="02020603050405020304" pitchFamily="18" charset="0"/>
              </a:rPr>
              <a:t>Table </a:t>
            </a:r>
            <a:r>
              <a:rPr lang="en-GB" altLang="en-US" sz="2000" b="1" dirty="0">
                <a:cs typeface="Times New Roman" panose="02020603050405020304" pitchFamily="18" charset="0"/>
              </a:rPr>
              <a:t>2</a:t>
            </a:r>
            <a:r>
              <a:rPr lang="en-US" sz="2000" b="1" dirty="0">
                <a:cs typeface="Times New Roman" panose="02020603050405020304" pitchFamily="18" charset="0"/>
              </a:rPr>
              <a:t>: </a:t>
            </a:r>
            <a:r>
              <a:rPr lang="en-US" sz="2000" dirty="0">
                <a:cs typeface="Times New Roman" panose="02020603050405020304" pitchFamily="18" charset="0"/>
              </a:rPr>
              <a:t>Evaluation Result for Food Shopping</a:t>
            </a:r>
          </a:p>
        </p:txBody>
      </p:sp>
      <p:graphicFrame>
        <p:nvGraphicFramePr>
          <p:cNvPr id="3" name="Table 2"/>
          <p:cNvGraphicFramePr>
            <a:graphicFrameLocks noGrp="1"/>
          </p:cNvGraphicFramePr>
          <p:nvPr/>
        </p:nvGraphicFramePr>
        <p:xfrm>
          <a:off x="1353581" y="1479051"/>
          <a:ext cx="9484836" cy="4399014"/>
        </p:xfrm>
        <a:graphic>
          <a:graphicData uri="http://schemas.openxmlformats.org/drawingml/2006/table">
            <a:tbl>
              <a:tblPr>
                <a:tableStyleId>{5C22544A-7EE6-4342-B048-85BDC9FD1C3A}</a:tableStyleId>
              </a:tblPr>
              <a:tblGrid>
                <a:gridCol w="2232346">
                  <a:extLst>
                    <a:ext uri="{9D8B030D-6E8A-4147-A177-3AD203B41FA5}">
                      <a16:colId xmlns:a16="http://schemas.microsoft.com/office/drawing/2014/main" val="20000"/>
                    </a:ext>
                  </a:extLst>
                </a:gridCol>
                <a:gridCol w="1192968">
                  <a:extLst>
                    <a:ext uri="{9D8B030D-6E8A-4147-A177-3AD203B41FA5}">
                      <a16:colId xmlns:a16="http://schemas.microsoft.com/office/drawing/2014/main" val="20001"/>
                    </a:ext>
                  </a:extLst>
                </a:gridCol>
                <a:gridCol w="1316054">
                  <a:extLst>
                    <a:ext uri="{9D8B030D-6E8A-4147-A177-3AD203B41FA5}">
                      <a16:colId xmlns:a16="http://schemas.microsoft.com/office/drawing/2014/main" val="20002"/>
                    </a:ext>
                  </a:extLst>
                </a:gridCol>
                <a:gridCol w="1581156">
                  <a:extLst>
                    <a:ext uri="{9D8B030D-6E8A-4147-A177-3AD203B41FA5}">
                      <a16:colId xmlns:a16="http://schemas.microsoft.com/office/drawing/2014/main" val="20003"/>
                    </a:ext>
                  </a:extLst>
                </a:gridCol>
                <a:gridCol w="1581156">
                  <a:extLst>
                    <a:ext uri="{9D8B030D-6E8A-4147-A177-3AD203B41FA5}">
                      <a16:colId xmlns:a16="http://schemas.microsoft.com/office/drawing/2014/main" val="20004"/>
                    </a:ext>
                  </a:extLst>
                </a:gridCol>
                <a:gridCol w="1581156">
                  <a:extLst>
                    <a:ext uri="{9D8B030D-6E8A-4147-A177-3AD203B41FA5}">
                      <a16:colId xmlns:a16="http://schemas.microsoft.com/office/drawing/2014/main" val="20005"/>
                    </a:ext>
                  </a:extLst>
                </a:gridCol>
              </a:tblGrid>
              <a:tr h="628394">
                <a:tc>
                  <a:txBody>
                    <a:bodyPr/>
                    <a:lstStyle/>
                    <a:p>
                      <a:pPr marL="0" marR="0" algn="just">
                        <a:lnSpc>
                          <a:spcPct val="200000"/>
                        </a:lnSpc>
                        <a:spcBef>
                          <a:spcPts val="0"/>
                        </a:spcBef>
                        <a:spcAft>
                          <a:spcPts val="1000"/>
                        </a:spcAft>
                      </a:pPr>
                      <a:r>
                        <a:rPr lang="en-US" sz="2000" b="1">
                          <a:effectLst/>
                        </a:rPr>
                        <a:t>Model</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lnB w="12700" cmpd="sng">
                      <a:solidFill>
                        <a:schemeClr val="tx1"/>
                      </a:solidFill>
                      <a:prstDash val="solid"/>
                    </a:lnB>
                    <a:noFill/>
                  </a:tcPr>
                </a:tc>
                <a:tc>
                  <a:txBody>
                    <a:bodyPr/>
                    <a:lstStyle/>
                    <a:p>
                      <a:pPr marL="0" marR="0" algn="ctr">
                        <a:lnSpc>
                          <a:spcPct val="200000"/>
                        </a:lnSpc>
                        <a:spcBef>
                          <a:spcPts val="0"/>
                        </a:spcBef>
                        <a:spcAft>
                          <a:spcPts val="1000"/>
                        </a:spcAft>
                      </a:pPr>
                      <a:r>
                        <a:rPr lang="en-US" sz="2000" b="1">
                          <a:effectLst/>
                        </a:rPr>
                        <a:t>AUC</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lnB w="12700" cmpd="sng">
                      <a:solidFill>
                        <a:schemeClr val="tx1"/>
                      </a:solidFill>
                      <a:prstDash val="solid"/>
                    </a:lnB>
                    <a:noFill/>
                  </a:tcPr>
                </a:tc>
                <a:tc>
                  <a:txBody>
                    <a:bodyPr/>
                    <a:lstStyle/>
                    <a:p>
                      <a:pPr marL="0" marR="0" algn="ctr">
                        <a:lnSpc>
                          <a:spcPct val="200000"/>
                        </a:lnSpc>
                        <a:spcBef>
                          <a:spcPts val="0"/>
                        </a:spcBef>
                        <a:spcAft>
                          <a:spcPts val="1000"/>
                        </a:spcAft>
                      </a:pPr>
                      <a:r>
                        <a:rPr lang="en-US" sz="2000" b="1">
                          <a:effectLst/>
                        </a:rPr>
                        <a:t>CA</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lnB w="12700" cmpd="sng">
                      <a:solidFill>
                        <a:schemeClr val="tx1"/>
                      </a:solidFill>
                      <a:prstDash val="solid"/>
                    </a:lnB>
                    <a:noFill/>
                  </a:tcPr>
                </a:tc>
                <a:tc>
                  <a:txBody>
                    <a:bodyPr/>
                    <a:lstStyle/>
                    <a:p>
                      <a:pPr marL="0" marR="0" algn="ctr">
                        <a:lnSpc>
                          <a:spcPct val="200000"/>
                        </a:lnSpc>
                        <a:spcBef>
                          <a:spcPts val="0"/>
                        </a:spcBef>
                        <a:spcAft>
                          <a:spcPts val="1000"/>
                        </a:spcAft>
                      </a:pPr>
                      <a:r>
                        <a:rPr lang="en-US" sz="2000" b="1">
                          <a:effectLst/>
                        </a:rPr>
                        <a:t>F1</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lnB w="12700" cmpd="sng">
                      <a:solidFill>
                        <a:schemeClr val="tx1"/>
                      </a:solidFill>
                      <a:prstDash val="solid"/>
                    </a:lnB>
                    <a:noFill/>
                  </a:tcPr>
                </a:tc>
                <a:tc>
                  <a:txBody>
                    <a:bodyPr/>
                    <a:lstStyle/>
                    <a:p>
                      <a:pPr marL="0" marR="0" algn="ctr">
                        <a:lnSpc>
                          <a:spcPct val="200000"/>
                        </a:lnSpc>
                        <a:spcBef>
                          <a:spcPts val="0"/>
                        </a:spcBef>
                        <a:spcAft>
                          <a:spcPts val="1000"/>
                        </a:spcAft>
                      </a:pPr>
                      <a:r>
                        <a:rPr lang="en-US" sz="2000" b="1">
                          <a:effectLst/>
                        </a:rPr>
                        <a:t>Precision</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lnB w="12700" cmpd="sng">
                      <a:solidFill>
                        <a:schemeClr val="tx1"/>
                      </a:solidFill>
                      <a:prstDash val="solid"/>
                    </a:lnB>
                    <a:noFill/>
                  </a:tcPr>
                </a:tc>
                <a:tc>
                  <a:txBody>
                    <a:bodyPr/>
                    <a:lstStyle/>
                    <a:p>
                      <a:pPr marL="0" marR="0" algn="ctr">
                        <a:lnSpc>
                          <a:spcPct val="200000"/>
                        </a:lnSpc>
                        <a:spcBef>
                          <a:spcPts val="0"/>
                        </a:spcBef>
                        <a:spcAft>
                          <a:spcPts val="1000"/>
                        </a:spcAft>
                      </a:pPr>
                      <a:r>
                        <a:rPr lang="en-US" sz="2000" b="1">
                          <a:effectLst/>
                        </a:rPr>
                        <a:t>Recall</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0"/>
                  </a:ext>
                </a:extLst>
              </a:tr>
              <a:tr h="628394">
                <a:tc>
                  <a:txBody>
                    <a:bodyPr/>
                    <a:lstStyle/>
                    <a:p>
                      <a:pPr marL="0" marR="0" algn="just">
                        <a:lnSpc>
                          <a:spcPct val="200000"/>
                        </a:lnSpc>
                        <a:spcBef>
                          <a:spcPts val="0"/>
                        </a:spcBef>
                        <a:spcAft>
                          <a:spcPts val="1000"/>
                        </a:spcAft>
                      </a:pPr>
                      <a:r>
                        <a:rPr lang="en-US" sz="2000" b="1">
                          <a:effectLst/>
                        </a:rPr>
                        <a:t>Tree</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noFill/>
                  </a:tcPr>
                </a:tc>
                <a:extLst>
                  <a:ext uri="{0D108BD9-81ED-4DB2-BD59-A6C34878D82A}">
                    <a16:rowId xmlns:a16="http://schemas.microsoft.com/office/drawing/2014/main" val="10001"/>
                  </a:ext>
                </a:extLst>
              </a:tr>
              <a:tr h="628650">
                <a:tc>
                  <a:txBody>
                    <a:bodyPr/>
                    <a:lstStyle/>
                    <a:p>
                      <a:pPr marL="0" marR="0" algn="just">
                        <a:lnSpc>
                          <a:spcPct val="200000"/>
                        </a:lnSpc>
                        <a:spcBef>
                          <a:spcPts val="0"/>
                        </a:spcBef>
                        <a:spcAft>
                          <a:spcPts val="1000"/>
                        </a:spcAft>
                      </a:pPr>
                      <a:r>
                        <a:rPr lang="en-US" sz="2000" b="1">
                          <a:effectLst/>
                        </a:rPr>
                        <a:t>Random Forest</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dirty="0">
                          <a:effectLst/>
                        </a:rPr>
                        <a:t>1.000</a:t>
                      </a:r>
                      <a:endParaRPr lang="en-US" sz="20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dirty="0">
                          <a:effectLst/>
                        </a:rPr>
                        <a:t>1.000</a:t>
                      </a:r>
                      <a:endParaRPr lang="en-US" sz="20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dirty="0">
                          <a:effectLst/>
                        </a:rPr>
                        <a:t>1.000</a:t>
                      </a:r>
                      <a:endParaRPr lang="en-US" sz="20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extLst>
                  <a:ext uri="{0D108BD9-81ED-4DB2-BD59-A6C34878D82A}">
                    <a16:rowId xmlns:a16="http://schemas.microsoft.com/office/drawing/2014/main" val="10002"/>
                  </a:ext>
                </a:extLst>
              </a:tr>
              <a:tr h="628394">
                <a:tc>
                  <a:txBody>
                    <a:bodyPr/>
                    <a:lstStyle/>
                    <a:p>
                      <a:pPr marL="0" marR="0" algn="just">
                        <a:lnSpc>
                          <a:spcPct val="200000"/>
                        </a:lnSpc>
                        <a:spcBef>
                          <a:spcPts val="0"/>
                        </a:spcBef>
                        <a:spcAft>
                          <a:spcPts val="1000"/>
                        </a:spcAft>
                      </a:pPr>
                      <a:r>
                        <a:rPr lang="en-US" sz="2000" b="1">
                          <a:effectLst/>
                        </a:rPr>
                        <a:t>Gradient Boosting</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dirty="0">
                          <a:effectLst/>
                        </a:rPr>
                        <a:t>1.000</a:t>
                      </a:r>
                      <a:endParaRPr lang="en-US" sz="20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extLst>
                  <a:ext uri="{0D108BD9-81ED-4DB2-BD59-A6C34878D82A}">
                    <a16:rowId xmlns:a16="http://schemas.microsoft.com/office/drawing/2014/main" val="10003"/>
                  </a:ext>
                </a:extLst>
              </a:tr>
              <a:tr h="628394">
                <a:tc>
                  <a:txBody>
                    <a:bodyPr/>
                    <a:lstStyle/>
                    <a:p>
                      <a:pPr marL="0" marR="0" algn="just">
                        <a:lnSpc>
                          <a:spcPct val="200000"/>
                        </a:lnSpc>
                        <a:spcBef>
                          <a:spcPts val="0"/>
                        </a:spcBef>
                        <a:spcAft>
                          <a:spcPts val="1000"/>
                        </a:spcAft>
                      </a:pPr>
                      <a:r>
                        <a:rPr lang="en-US" sz="2000" b="1">
                          <a:effectLst/>
                        </a:rPr>
                        <a:t>AdaBoost</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extLst>
                  <a:ext uri="{0D108BD9-81ED-4DB2-BD59-A6C34878D82A}">
                    <a16:rowId xmlns:a16="http://schemas.microsoft.com/office/drawing/2014/main" val="10004"/>
                  </a:ext>
                </a:extLst>
              </a:tr>
              <a:tr h="628394">
                <a:tc>
                  <a:txBody>
                    <a:bodyPr/>
                    <a:lstStyle/>
                    <a:p>
                      <a:pPr marL="0" marR="0" algn="just">
                        <a:lnSpc>
                          <a:spcPct val="200000"/>
                        </a:lnSpc>
                        <a:spcBef>
                          <a:spcPts val="0"/>
                        </a:spcBef>
                        <a:spcAft>
                          <a:spcPts val="1000"/>
                        </a:spcAft>
                      </a:pPr>
                      <a:r>
                        <a:rPr lang="en-US" sz="2000" b="1">
                          <a:effectLst/>
                        </a:rPr>
                        <a:t>SVM</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0.999</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0.999</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0.999</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0.999</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extLst>
                  <a:ext uri="{0D108BD9-81ED-4DB2-BD59-A6C34878D82A}">
                    <a16:rowId xmlns:a16="http://schemas.microsoft.com/office/drawing/2014/main" val="10005"/>
                  </a:ext>
                </a:extLst>
              </a:tr>
              <a:tr h="628394">
                <a:tc>
                  <a:txBody>
                    <a:bodyPr/>
                    <a:lstStyle/>
                    <a:p>
                      <a:pPr marL="0" marR="0" algn="just">
                        <a:lnSpc>
                          <a:spcPct val="200000"/>
                        </a:lnSpc>
                        <a:spcBef>
                          <a:spcPts val="0"/>
                        </a:spcBef>
                        <a:spcAft>
                          <a:spcPts val="1000"/>
                        </a:spcAft>
                      </a:pPr>
                      <a:r>
                        <a:rPr lang="en-US" sz="2000" b="1">
                          <a:effectLst/>
                        </a:rPr>
                        <a:t>KNN</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B w="12700" cmpd="sng">
                      <a:solidFill>
                        <a:schemeClr val="tx1"/>
                      </a:solidFill>
                      <a:prstDash val="solid"/>
                    </a:lnB>
                    <a:noFill/>
                  </a:tcPr>
                </a:tc>
                <a:tc>
                  <a:txBody>
                    <a:bodyPr/>
                    <a:lstStyle/>
                    <a:p>
                      <a:pPr marL="0" marR="0" algn="ctr">
                        <a:lnSpc>
                          <a:spcPct val="200000"/>
                        </a:lnSpc>
                        <a:spcBef>
                          <a:spcPts val="0"/>
                        </a:spcBef>
                        <a:spcAft>
                          <a:spcPts val="1000"/>
                        </a:spcAft>
                      </a:pPr>
                      <a:r>
                        <a:rPr lang="en-US" sz="2000">
                          <a:effectLst/>
                        </a:rPr>
                        <a:t>0.971</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B w="12700" cmpd="sng">
                      <a:solidFill>
                        <a:schemeClr val="tx1"/>
                      </a:solidFill>
                      <a:prstDash val="solid"/>
                    </a:lnB>
                    <a:noFill/>
                  </a:tcPr>
                </a:tc>
                <a:tc>
                  <a:txBody>
                    <a:bodyPr/>
                    <a:lstStyle/>
                    <a:p>
                      <a:pPr marL="0" marR="0" algn="ctr">
                        <a:lnSpc>
                          <a:spcPct val="200000"/>
                        </a:lnSpc>
                        <a:spcBef>
                          <a:spcPts val="0"/>
                        </a:spcBef>
                        <a:spcAft>
                          <a:spcPts val="1000"/>
                        </a:spcAft>
                      </a:pPr>
                      <a:r>
                        <a:rPr lang="en-US" sz="2000">
                          <a:effectLst/>
                        </a:rPr>
                        <a:t>0.892</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B w="12700" cmpd="sng">
                      <a:solidFill>
                        <a:schemeClr val="tx1"/>
                      </a:solidFill>
                      <a:prstDash val="solid"/>
                    </a:lnB>
                    <a:noFill/>
                  </a:tcPr>
                </a:tc>
                <a:tc>
                  <a:txBody>
                    <a:bodyPr/>
                    <a:lstStyle/>
                    <a:p>
                      <a:pPr marL="0" marR="0" algn="ctr">
                        <a:lnSpc>
                          <a:spcPct val="200000"/>
                        </a:lnSpc>
                        <a:spcBef>
                          <a:spcPts val="0"/>
                        </a:spcBef>
                        <a:spcAft>
                          <a:spcPts val="1000"/>
                        </a:spcAft>
                      </a:pPr>
                      <a:r>
                        <a:rPr lang="en-US" sz="2000" dirty="0">
                          <a:effectLst/>
                        </a:rPr>
                        <a:t>0.887</a:t>
                      </a:r>
                      <a:endParaRPr lang="en-US" sz="20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B w="12700" cmpd="sng">
                      <a:solidFill>
                        <a:schemeClr val="tx1"/>
                      </a:solidFill>
                      <a:prstDash val="solid"/>
                    </a:lnB>
                    <a:noFill/>
                  </a:tcPr>
                </a:tc>
                <a:tc>
                  <a:txBody>
                    <a:bodyPr/>
                    <a:lstStyle/>
                    <a:p>
                      <a:pPr marL="0" marR="0" algn="ctr">
                        <a:lnSpc>
                          <a:spcPct val="200000"/>
                        </a:lnSpc>
                        <a:spcBef>
                          <a:spcPts val="0"/>
                        </a:spcBef>
                        <a:spcAft>
                          <a:spcPts val="1000"/>
                        </a:spcAft>
                      </a:pPr>
                      <a:r>
                        <a:rPr lang="en-US" sz="2000">
                          <a:effectLst/>
                        </a:rPr>
                        <a:t>0.893</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B w="12700" cmpd="sng">
                      <a:solidFill>
                        <a:schemeClr val="tx1"/>
                      </a:solidFill>
                      <a:prstDash val="solid"/>
                    </a:lnB>
                    <a:noFill/>
                  </a:tcPr>
                </a:tc>
                <a:tc>
                  <a:txBody>
                    <a:bodyPr/>
                    <a:lstStyle/>
                    <a:p>
                      <a:pPr marL="0" marR="0" algn="ctr">
                        <a:lnSpc>
                          <a:spcPct val="200000"/>
                        </a:lnSpc>
                        <a:spcBef>
                          <a:spcPts val="0"/>
                        </a:spcBef>
                        <a:spcAft>
                          <a:spcPts val="1000"/>
                        </a:spcAft>
                      </a:pPr>
                      <a:r>
                        <a:rPr lang="en-US" sz="2000" dirty="0">
                          <a:effectLst/>
                        </a:rPr>
                        <a:t>0.892</a:t>
                      </a:r>
                      <a:endParaRPr lang="en-US" sz="20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B w="12700" cmpd="sng">
                      <a:solidFill>
                        <a:schemeClr val="tx1"/>
                      </a:solidFill>
                      <a:prstDash val="soli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25370"/>
            <a:ext cx="10515600" cy="1052858"/>
          </a:xfrm>
        </p:spPr>
        <p:txBody>
          <a:bodyPr>
            <a:normAutofit/>
          </a:bodyPr>
          <a:lstStyle/>
          <a:p>
            <a:r>
              <a:rPr lang="en-US" sz="5000" dirty="0">
                <a:cs typeface="Times New Roman" panose="02020603050405020304" pitchFamily="18" charset="0"/>
              </a:rPr>
              <a:t>RESULTS</a:t>
            </a:r>
          </a:p>
        </p:txBody>
      </p:sp>
      <p:sp>
        <p:nvSpPr>
          <p:cNvPr id="5" name="TextBox 4"/>
          <p:cNvSpPr txBox="1"/>
          <p:nvPr/>
        </p:nvSpPr>
        <p:spPr>
          <a:xfrm>
            <a:off x="1515609" y="6289782"/>
            <a:ext cx="9160780" cy="398780"/>
          </a:xfrm>
          <a:prstGeom prst="rect">
            <a:avLst/>
          </a:prstGeom>
          <a:noFill/>
        </p:spPr>
        <p:txBody>
          <a:bodyPr wrap="square">
            <a:spAutoFit/>
          </a:bodyPr>
          <a:lstStyle/>
          <a:p>
            <a:pPr algn="ctr"/>
            <a:r>
              <a:rPr lang="en-US" sz="2000" b="1" dirty="0">
                <a:cs typeface="Times New Roman" panose="02020603050405020304" pitchFamily="18" charset="0"/>
              </a:rPr>
              <a:t>Figure 6: </a:t>
            </a:r>
            <a:r>
              <a:rPr lang="en-US" sz="2000" dirty="0">
                <a:cs typeface="Times New Roman" panose="02020603050405020304" pitchFamily="18" charset="0"/>
              </a:rPr>
              <a:t>Boxplot for Food Amount</a:t>
            </a:r>
            <a:endParaRPr lang="en-US" sz="2000" b="1" dirty="0">
              <a:cs typeface="Times New Roman" panose="02020603050405020304" pitchFamily="18" charset="0"/>
            </a:endParaRPr>
          </a:p>
        </p:txBody>
      </p:sp>
      <p:pic>
        <p:nvPicPr>
          <p:cNvPr id="4" name="Picture 3"/>
          <p:cNvPicPr>
            <a:picLocks noChangeAspect="1"/>
          </p:cNvPicPr>
          <p:nvPr/>
        </p:nvPicPr>
        <p:blipFill>
          <a:blip r:embed="rId2">
            <a:lum contrast="30000"/>
            <a:extLst>
              <a:ext uri="{28A0092B-C50C-407E-A947-70E740481C1C}">
                <a14:useLocalDpi xmlns:a14="http://schemas.microsoft.com/office/drawing/2010/main" val="0"/>
              </a:ext>
            </a:extLst>
          </a:blip>
          <a:srcRect t="5081" b="5095"/>
          <a:stretch>
            <a:fillRect/>
          </a:stretch>
        </p:blipFill>
        <p:spPr>
          <a:xfrm>
            <a:off x="131445" y="1091565"/>
            <a:ext cx="11899900" cy="519874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10095"/>
            <a:ext cx="10515600" cy="1052858"/>
          </a:xfrm>
        </p:spPr>
        <p:txBody>
          <a:bodyPr>
            <a:normAutofit/>
          </a:bodyPr>
          <a:lstStyle/>
          <a:p>
            <a:r>
              <a:rPr lang="en-US" sz="5000" dirty="0">
                <a:cs typeface="Times New Roman" panose="02020603050405020304" pitchFamily="18" charset="0"/>
              </a:rPr>
              <a:t>RESULTS</a:t>
            </a:r>
          </a:p>
        </p:txBody>
      </p:sp>
      <p:sp>
        <p:nvSpPr>
          <p:cNvPr id="5" name="TextBox 4"/>
          <p:cNvSpPr txBox="1"/>
          <p:nvPr/>
        </p:nvSpPr>
        <p:spPr>
          <a:xfrm>
            <a:off x="2627630" y="6270625"/>
            <a:ext cx="4164965" cy="398780"/>
          </a:xfrm>
          <a:prstGeom prst="rect">
            <a:avLst/>
          </a:prstGeom>
          <a:noFill/>
        </p:spPr>
        <p:txBody>
          <a:bodyPr wrap="square">
            <a:spAutoFit/>
          </a:bodyPr>
          <a:lstStyle/>
          <a:p>
            <a:r>
              <a:rPr lang="en-US" sz="2000" b="1" dirty="0">
                <a:cs typeface="Times New Roman" panose="02020603050405020304" pitchFamily="18" charset="0"/>
              </a:rPr>
              <a:t>Table </a:t>
            </a:r>
            <a:r>
              <a:rPr lang="en-GB" altLang="en-US" sz="2000" b="1" dirty="0">
                <a:cs typeface="Times New Roman" panose="02020603050405020304" pitchFamily="18" charset="0"/>
              </a:rPr>
              <a:t>3</a:t>
            </a:r>
            <a:r>
              <a:rPr lang="en-US" sz="2000" b="1" dirty="0">
                <a:cs typeface="Times New Roman" panose="02020603050405020304" pitchFamily="18" charset="0"/>
              </a:rPr>
              <a:t>:</a:t>
            </a:r>
            <a:r>
              <a:rPr lang="en-US" sz="2000" dirty="0">
                <a:cs typeface="Times New Roman" panose="02020603050405020304" pitchFamily="18" charset="0"/>
              </a:rPr>
              <a:t> Pivot Table for Food Amount</a:t>
            </a:r>
          </a:p>
        </p:txBody>
      </p:sp>
      <p:graphicFrame>
        <p:nvGraphicFramePr>
          <p:cNvPr id="3" name="Table 2"/>
          <p:cNvGraphicFramePr>
            <a:graphicFrameLocks noGrp="1"/>
          </p:cNvGraphicFramePr>
          <p:nvPr/>
        </p:nvGraphicFramePr>
        <p:xfrm>
          <a:off x="344804" y="1322422"/>
          <a:ext cx="11405235" cy="4674870"/>
        </p:xfrm>
        <a:graphic>
          <a:graphicData uri="http://schemas.openxmlformats.org/drawingml/2006/table">
            <a:tbl>
              <a:tblPr>
                <a:tableStyleId>{5C22544A-7EE6-4342-B048-85BDC9FD1C3A}</a:tableStyleId>
              </a:tblPr>
              <a:tblGrid>
                <a:gridCol w="1951990">
                  <a:extLst>
                    <a:ext uri="{9D8B030D-6E8A-4147-A177-3AD203B41FA5}">
                      <a16:colId xmlns:a16="http://schemas.microsoft.com/office/drawing/2014/main" val="20000"/>
                    </a:ext>
                  </a:extLst>
                </a:gridCol>
                <a:gridCol w="2162908">
                  <a:extLst>
                    <a:ext uri="{9D8B030D-6E8A-4147-A177-3AD203B41FA5}">
                      <a16:colId xmlns:a16="http://schemas.microsoft.com/office/drawing/2014/main" val="20001"/>
                    </a:ext>
                  </a:extLst>
                </a:gridCol>
                <a:gridCol w="2014220">
                  <a:extLst>
                    <a:ext uri="{9D8B030D-6E8A-4147-A177-3AD203B41FA5}">
                      <a16:colId xmlns:a16="http://schemas.microsoft.com/office/drawing/2014/main" val="20002"/>
                    </a:ext>
                  </a:extLst>
                </a:gridCol>
                <a:gridCol w="1731010">
                  <a:extLst>
                    <a:ext uri="{9D8B030D-6E8A-4147-A177-3AD203B41FA5}">
                      <a16:colId xmlns:a16="http://schemas.microsoft.com/office/drawing/2014/main" val="20003"/>
                    </a:ext>
                  </a:extLst>
                </a:gridCol>
                <a:gridCol w="1865447">
                  <a:extLst>
                    <a:ext uri="{9D8B030D-6E8A-4147-A177-3AD203B41FA5}">
                      <a16:colId xmlns:a16="http://schemas.microsoft.com/office/drawing/2014/main" val="20004"/>
                    </a:ext>
                  </a:extLst>
                </a:gridCol>
                <a:gridCol w="1679662">
                  <a:extLst>
                    <a:ext uri="{9D8B030D-6E8A-4147-A177-3AD203B41FA5}">
                      <a16:colId xmlns:a16="http://schemas.microsoft.com/office/drawing/2014/main" val="20005"/>
                    </a:ext>
                  </a:extLst>
                </a:gridCol>
              </a:tblGrid>
              <a:tr h="785495">
                <a:tc>
                  <a:txBody>
                    <a:bodyPr/>
                    <a:lstStyle/>
                    <a:p>
                      <a:pPr marL="0" marR="0" algn="just">
                        <a:lnSpc>
                          <a:spcPct val="70000"/>
                        </a:lnSpc>
                        <a:spcBef>
                          <a:spcPts val="0"/>
                        </a:spcBef>
                        <a:spcAft>
                          <a:spcPts val="1000"/>
                        </a:spcAft>
                      </a:pPr>
                      <a:endParaRPr lang="en-US" sz="2000" b="1" dirty="0">
                        <a:effectLst/>
                        <a:ea typeface="SimSun" panose="02010600030101010101" pitchFamily="2" charset="-122"/>
                        <a:cs typeface="+mn-lt"/>
                      </a:endParaRPr>
                    </a:p>
                  </a:txBody>
                  <a:tcPr marL="68580" marR="68580" marT="0" marB="0" anchor="ctr">
                    <a:lnT w="12700" cmpd="sng">
                      <a:solidFill>
                        <a:schemeClr val="tx1"/>
                      </a:solidFill>
                      <a:prstDash val="solid"/>
                    </a:lnT>
                    <a:lnB w="12700" cmpd="sng">
                      <a:solidFill>
                        <a:schemeClr val="tx1"/>
                      </a:solidFill>
                      <a:prstDash val="solid"/>
                    </a:lnB>
                    <a:noFill/>
                  </a:tcPr>
                </a:tc>
                <a:tc>
                  <a:txBody>
                    <a:bodyPr/>
                    <a:lstStyle/>
                    <a:p>
                      <a:pPr marL="0" marR="0" algn="ctr">
                        <a:lnSpc>
                          <a:spcPct val="70000"/>
                        </a:lnSpc>
                        <a:spcBef>
                          <a:spcPts val="0"/>
                        </a:spcBef>
                        <a:spcAft>
                          <a:spcPts val="1000"/>
                        </a:spcAft>
                      </a:pPr>
                      <a:r>
                        <a:rPr lang="en-US" sz="2000" b="1" dirty="0">
                          <a:effectLst/>
                          <a:cs typeface="+mn-lt"/>
                        </a:rPr>
                        <a:t>Aggregate</a:t>
                      </a:r>
                      <a:endParaRPr lang="en-US" sz="2000" b="1" dirty="0">
                        <a:effectLst/>
                        <a:ea typeface="SimSun" panose="02010600030101010101" pitchFamily="2" charset="-122"/>
                        <a:cs typeface="+mn-lt"/>
                      </a:endParaRPr>
                    </a:p>
                  </a:txBody>
                  <a:tcPr marL="68580" marR="68580" marT="0" marB="0" anchor="ctr">
                    <a:lnT w="12700" cmpd="sng">
                      <a:solidFill>
                        <a:schemeClr val="tx1"/>
                      </a:solidFill>
                      <a:prstDash val="solid"/>
                    </a:lnT>
                    <a:lnB w="12700" cmpd="sng">
                      <a:solidFill>
                        <a:schemeClr val="tx1"/>
                      </a:solidFill>
                      <a:prstDash val="solid"/>
                    </a:lnB>
                    <a:noFill/>
                  </a:tcPr>
                </a:tc>
                <a:tc>
                  <a:txBody>
                    <a:bodyPr/>
                    <a:lstStyle/>
                    <a:p>
                      <a:pPr marL="0" marR="0" algn="just">
                        <a:lnSpc>
                          <a:spcPct val="70000"/>
                        </a:lnSpc>
                        <a:spcBef>
                          <a:spcPts val="0"/>
                        </a:spcBef>
                        <a:spcAft>
                          <a:spcPts val="1000"/>
                        </a:spcAft>
                      </a:pPr>
                      <a:r>
                        <a:rPr lang="en-US" sz="2000" b="1" dirty="0">
                          <a:effectLst/>
                          <a:ea typeface="SimSun" panose="02010600030101010101" pitchFamily="2" charset="-122"/>
                          <a:cs typeface="+mn-lt"/>
                        </a:rPr>
                        <a:t>Bigger </a:t>
                      </a:r>
                      <a:r>
                        <a:rPr lang="en-US" sz="2000" b="1" dirty="0" err="1">
                          <a:effectLst/>
                          <a:ea typeface="SimSun" panose="02010600030101010101" pitchFamily="2" charset="-122"/>
                          <a:cs typeface="+mn-lt"/>
                        </a:rPr>
                        <a:t>packsize</a:t>
                      </a:r>
                      <a:r>
                        <a:rPr lang="en-US" sz="2000" b="1" dirty="0">
                          <a:effectLst/>
                          <a:ea typeface="SimSun" panose="02010600030101010101" pitchFamily="2" charset="-122"/>
                          <a:cs typeface="+mn-lt"/>
                        </a:rPr>
                        <a:t> than usual</a:t>
                      </a:r>
                    </a:p>
                  </a:txBody>
                  <a:tcPr marL="68580" marR="68580" marT="0" marB="0" anchor="ctr">
                    <a:lnT w="12700" cmpd="sng">
                      <a:solidFill>
                        <a:schemeClr val="tx1"/>
                      </a:solidFill>
                      <a:prstDash val="solid"/>
                    </a:lnT>
                    <a:lnB w="12700" cmpd="sng">
                      <a:solidFill>
                        <a:schemeClr val="tx1"/>
                      </a:solidFill>
                      <a:prstDash val="solid"/>
                    </a:lnB>
                    <a:noFill/>
                  </a:tcPr>
                </a:tc>
                <a:tc>
                  <a:txBody>
                    <a:bodyPr/>
                    <a:lstStyle/>
                    <a:p>
                      <a:pPr marL="0" marR="0" algn="just">
                        <a:lnSpc>
                          <a:spcPct val="70000"/>
                        </a:lnSpc>
                        <a:spcBef>
                          <a:spcPts val="0"/>
                        </a:spcBef>
                        <a:spcAft>
                          <a:spcPts val="1000"/>
                        </a:spcAft>
                      </a:pPr>
                      <a:r>
                        <a:rPr lang="en-US" sz="2000" b="1" dirty="0">
                          <a:effectLst/>
                          <a:ea typeface="SimSun" panose="02010600030101010101" pitchFamily="2" charset="-122"/>
                          <a:cs typeface="+mn-lt"/>
                        </a:rPr>
                        <a:t>Same as usual</a:t>
                      </a:r>
                    </a:p>
                  </a:txBody>
                  <a:tcPr marL="68580" marR="68580" marT="0" marB="0" anchor="ctr">
                    <a:lnT w="12700" cmpd="sng">
                      <a:solidFill>
                        <a:schemeClr val="tx1"/>
                      </a:solidFill>
                      <a:prstDash val="solid"/>
                    </a:lnT>
                    <a:lnB w="12700" cmpd="sng">
                      <a:solidFill>
                        <a:schemeClr val="tx1"/>
                      </a:solidFill>
                      <a:prstDash val="solid"/>
                    </a:lnB>
                    <a:noFill/>
                  </a:tcPr>
                </a:tc>
                <a:tc>
                  <a:txBody>
                    <a:bodyPr/>
                    <a:lstStyle/>
                    <a:p>
                      <a:pPr marL="0" marR="0" algn="just">
                        <a:lnSpc>
                          <a:spcPct val="70000"/>
                        </a:lnSpc>
                        <a:spcBef>
                          <a:spcPts val="0"/>
                        </a:spcBef>
                        <a:spcAft>
                          <a:spcPts val="1000"/>
                        </a:spcAft>
                      </a:pPr>
                      <a:r>
                        <a:rPr lang="en-US" sz="2000" b="1" dirty="0">
                          <a:effectLst/>
                          <a:ea typeface="SimSun" panose="02010600030101010101" pitchFamily="2" charset="-122"/>
                          <a:cs typeface="+mn-lt"/>
                        </a:rPr>
                        <a:t>Smaller </a:t>
                      </a:r>
                      <a:r>
                        <a:rPr lang="en-US" sz="2000" b="1" dirty="0" err="1">
                          <a:effectLst/>
                          <a:ea typeface="SimSun" panose="02010600030101010101" pitchFamily="2" charset="-122"/>
                          <a:cs typeface="+mn-lt"/>
                        </a:rPr>
                        <a:t>packsize</a:t>
                      </a:r>
                      <a:r>
                        <a:rPr lang="en-US" sz="2000" b="1" dirty="0">
                          <a:effectLst/>
                          <a:ea typeface="SimSun" panose="02010600030101010101" pitchFamily="2" charset="-122"/>
                          <a:cs typeface="+mn-lt"/>
                        </a:rPr>
                        <a:t> than usual </a:t>
                      </a:r>
                    </a:p>
                  </a:txBody>
                  <a:tcPr marL="68580" marR="68580" marT="0" marB="0" anchor="ctr">
                    <a:lnT w="12700" cmpd="sng">
                      <a:solidFill>
                        <a:schemeClr val="tx1"/>
                      </a:solidFill>
                      <a:prstDash val="solid"/>
                    </a:lnT>
                    <a:lnB w="12700" cmpd="sng">
                      <a:solidFill>
                        <a:schemeClr val="tx1"/>
                      </a:solidFill>
                      <a:prstDash val="solid"/>
                    </a:lnB>
                    <a:noFill/>
                  </a:tcPr>
                </a:tc>
                <a:tc>
                  <a:txBody>
                    <a:bodyPr/>
                    <a:lstStyle/>
                    <a:p>
                      <a:pPr marL="0" marR="0" algn="ctr">
                        <a:lnSpc>
                          <a:spcPct val="70000"/>
                        </a:lnSpc>
                        <a:spcBef>
                          <a:spcPts val="0"/>
                        </a:spcBef>
                        <a:spcAft>
                          <a:spcPts val="1000"/>
                        </a:spcAft>
                      </a:pPr>
                      <a:r>
                        <a:rPr lang="en-US" sz="2000" b="1" dirty="0">
                          <a:effectLst/>
                          <a:ea typeface="SimSun" panose="02010600030101010101" pitchFamily="2" charset="-122"/>
                          <a:cs typeface="+mn-lt"/>
                        </a:rPr>
                        <a:t>Total</a:t>
                      </a:r>
                    </a:p>
                  </a:txBody>
                  <a:tcPr marL="68580" marR="68580" marT="0" marB="0" anchor="ct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0"/>
                  </a:ext>
                </a:extLst>
              </a:tr>
              <a:tr h="854710">
                <a:tc>
                  <a:txBody>
                    <a:bodyPr/>
                    <a:lstStyle/>
                    <a:p>
                      <a:pPr marL="0" marR="0" algn="just">
                        <a:lnSpc>
                          <a:spcPct val="70000"/>
                        </a:lnSpc>
                        <a:spcBef>
                          <a:spcPts val="0"/>
                        </a:spcBef>
                        <a:spcAft>
                          <a:spcPts val="1000"/>
                        </a:spcAft>
                      </a:pPr>
                      <a:r>
                        <a:rPr lang="en-US" sz="2000" b="1" dirty="0">
                          <a:effectLst/>
                          <a:ea typeface="SimSun" panose="02010600030101010101" pitchFamily="2" charset="-122"/>
                          <a:cs typeface="+mn-lt"/>
                        </a:rPr>
                        <a:t>Bigger </a:t>
                      </a:r>
                      <a:r>
                        <a:rPr lang="en-US" sz="2000" b="1" dirty="0" err="1">
                          <a:effectLst/>
                          <a:ea typeface="SimSun" panose="02010600030101010101" pitchFamily="2" charset="-122"/>
                          <a:cs typeface="+mn-lt"/>
                        </a:rPr>
                        <a:t>packsize</a:t>
                      </a:r>
                      <a:r>
                        <a:rPr lang="en-US" sz="2000" b="1" dirty="0">
                          <a:effectLst/>
                          <a:ea typeface="SimSun" panose="02010600030101010101" pitchFamily="2" charset="-122"/>
                          <a:cs typeface="+mn-lt"/>
                        </a:rPr>
                        <a:t> than usual</a:t>
                      </a:r>
                    </a:p>
                  </a:txBody>
                  <a:tcPr marL="68580" marR="68580" marT="0" marB="0" anchor="ctr">
                    <a:lnT w="12700" cmpd="sng">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marL="457200" algn="just">
                        <a:lnSpc>
                          <a:spcPct val="70000"/>
                        </a:lnSpc>
                        <a:spcAft>
                          <a:spcPts val="1000"/>
                        </a:spcAft>
                      </a:pPr>
                      <a:r>
                        <a:rPr lang="en-US" sz="2000" dirty="0">
                          <a:effectLst/>
                          <a:ea typeface="SimSun" panose="02010600030101010101" pitchFamily="2" charset="-122"/>
                          <a:cs typeface="+mn-lt"/>
                        </a:rPr>
                        <a:t>Count Majority</a:t>
                      </a:r>
                    </a:p>
                  </a:txBody>
                  <a:tcPr marL="68580" marR="68580" marT="0" marB="0" anchor="ctr">
                    <a:lnT w="12700" cmpd="sng">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marL="0" marR="0" algn="ctr">
                        <a:lnSpc>
                          <a:spcPct val="70000"/>
                        </a:lnSpc>
                        <a:spcBef>
                          <a:spcPts val="0"/>
                        </a:spcBef>
                        <a:spcAft>
                          <a:spcPts val="1000"/>
                        </a:spcAft>
                      </a:pPr>
                      <a:r>
                        <a:rPr lang="en-US" sz="2000" dirty="0">
                          <a:effectLst/>
                          <a:ea typeface="SimSun" panose="02010600030101010101" pitchFamily="2" charset="-122"/>
                          <a:cs typeface="+mn-lt"/>
                        </a:rPr>
                        <a:t>1718.0</a:t>
                      </a:r>
                    </a:p>
                    <a:p>
                      <a:pPr marL="0" marR="0" algn="ctr">
                        <a:lnSpc>
                          <a:spcPct val="70000"/>
                        </a:lnSpc>
                        <a:spcBef>
                          <a:spcPts val="0"/>
                        </a:spcBef>
                        <a:spcAft>
                          <a:spcPts val="1000"/>
                        </a:spcAft>
                      </a:pPr>
                      <a:r>
                        <a:rPr lang="en-US" sz="2000" b="1" dirty="0">
                          <a:effectLst/>
                          <a:ea typeface="SimSun" panose="02010600030101010101" pitchFamily="2" charset="-122"/>
                          <a:cs typeface="+mn-lt"/>
                        </a:rPr>
                        <a:t>South Africa</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70000"/>
                        </a:lnSpc>
                        <a:spcBef>
                          <a:spcPts val="0"/>
                        </a:spcBef>
                        <a:spcAft>
                          <a:spcPts val="1000"/>
                        </a:spcAft>
                      </a:pPr>
                      <a:r>
                        <a:rPr lang="en-US" sz="2000" dirty="0">
                          <a:effectLst/>
                          <a:ea typeface="SimSun" panose="02010600030101010101" pitchFamily="2" charset="-122"/>
                          <a:cs typeface="+mn-lt"/>
                        </a:rPr>
                        <a:t>0.0</a:t>
                      </a:r>
                    </a:p>
                    <a:p>
                      <a:pPr marL="0" marR="0" algn="ctr">
                        <a:lnSpc>
                          <a:spcPct val="70000"/>
                        </a:lnSpc>
                        <a:spcBef>
                          <a:spcPts val="0"/>
                        </a:spcBef>
                        <a:spcAft>
                          <a:spcPts val="1000"/>
                        </a:spcAft>
                      </a:pPr>
                      <a:r>
                        <a:rPr lang="en-US" sz="2000" dirty="0">
                          <a:effectLst/>
                          <a:ea typeface="SimSun" panose="02010600030101010101" pitchFamily="2" charset="-122"/>
                          <a:cs typeface="+mn-lt"/>
                        </a:rPr>
                        <a:t>?</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70000"/>
                        </a:lnSpc>
                        <a:spcBef>
                          <a:spcPts val="0"/>
                        </a:spcBef>
                        <a:spcAft>
                          <a:spcPts val="1000"/>
                        </a:spcAft>
                      </a:pPr>
                      <a:r>
                        <a:rPr lang="en-US" sz="2000" dirty="0">
                          <a:effectLst/>
                          <a:ea typeface="SimSun" panose="02010600030101010101" pitchFamily="2" charset="-122"/>
                          <a:cs typeface="+mn-lt"/>
                        </a:rPr>
                        <a:t>0.0</a:t>
                      </a:r>
                    </a:p>
                    <a:p>
                      <a:pPr marL="0" marR="0" algn="ctr">
                        <a:lnSpc>
                          <a:spcPct val="70000"/>
                        </a:lnSpc>
                        <a:spcBef>
                          <a:spcPts val="0"/>
                        </a:spcBef>
                        <a:spcAft>
                          <a:spcPts val="1000"/>
                        </a:spcAft>
                      </a:pPr>
                      <a:r>
                        <a:rPr lang="en-US" sz="2000" dirty="0">
                          <a:effectLst/>
                          <a:ea typeface="SimSun" panose="02010600030101010101" pitchFamily="2" charset="-122"/>
                          <a:cs typeface="+mn-lt"/>
                        </a:rPr>
                        <a:t>?</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70000"/>
                        </a:lnSpc>
                        <a:spcBef>
                          <a:spcPts val="0"/>
                        </a:spcBef>
                        <a:spcAft>
                          <a:spcPts val="1000"/>
                        </a:spcAft>
                      </a:pPr>
                      <a:r>
                        <a:rPr lang="en-US" sz="2000" dirty="0">
                          <a:effectLst/>
                          <a:ea typeface="SimSun" panose="02010600030101010101" pitchFamily="2" charset="-122"/>
                          <a:cs typeface="+mn-lt"/>
                        </a:rPr>
                        <a:t>1718.0</a:t>
                      </a:r>
                    </a:p>
                    <a:p>
                      <a:pPr marL="0" marR="0" algn="ctr">
                        <a:lnSpc>
                          <a:spcPct val="70000"/>
                        </a:lnSpc>
                        <a:spcBef>
                          <a:spcPts val="0"/>
                        </a:spcBef>
                        <a:spcAft>
                          <a:spcPts val="1000"/>
                        </a:spcAft>
                      </a:pPr>
                      <a:r>
                        <a:rPr lang="en-US" sz="2000" dirty="0">
                          <a:effectLst/>
                          <a:ea typeface="SimSun" panose="02010600030101010101" pitchFamily="2" charset="-122"/>
                          <a:cs typeface="+mn-lt"/>
                        </a:rPr>
                        <a:t>South Africa</a:t>
                      </a:r>
                    </a:p>
                  </a:txBody>
                  <a:tcPr marL="68580" marR="68580" marT="0" marB="0" anchor="ctr">
                    <a:lnT w="12700" cmpd="sng">
                      <a:solidFill>
                        <a:schemeClr val="tx1"/>
                      </a:solidFill>
                      <a:prstDash val="soli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123315">
                <a:tc>
                  <a:txBody>
                    <a:bodyPr/>
                    <a:lstStyle/>
                    <a:p>
                      <a:pPr marL="0" marR="0" algn="just">
                        <a:lnSpc>
                          <a:spcPct val="70000"/>
                        </a:lnSpc>
                        <a:spcBef>
                          <a:spcPts val="0"/>
                        </a:spcBef>
                        <a:spcAft>
                          <a:spcPts val="1000"/>
                        </a:spcAft>
                      </a:pPr>
                      <a:r>
                        <a:rPr lang="en-US" sz="2000" b="1" dirty="0">
                          <a:effectLst/>
                          <a:ea typeface="SimSun" panose="02010600030101010101" pitchFamily="2" charset="-122"/>
                          <a:cs typeface="+mn-lt"/>
                        </a:rPr>
                        <a:t>Same as usual</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457200" algn="just">
                        <a:lnSpc>
                          <a:spcPct val="70000"/>
                        </a:lnSpc>
                        <a:spcAft>
                          <a:spcPts val="1000"/>
                        </a:spcAft>
                      </a:pPr>
                      <a:r>
                        <a:rPr lang="en-US" sz="2000" dirty="0">
                          <a:effectLst/>
                          <a:ea typeface="SimSun" panose="02010600030101010101" pitchFamily="2" charset="-122"/>
                          <a:cs typeface="+mn-lt"/>
                        </a:rPr>
                        <a:t>Count Majority</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70000"/>
                        </a:lnSpc>
                        <a:spcBef>
                          <a:spcPts val="0"/>
                        </a:spcBef>
                        <a:spcAft>
                          <a:spcPts val="1000"/>
                        </a:spcAft>
                      </a:pPr>
                      <a:r>
                        <a:rPr lang="en-US" sz="2000" dirty="0">
                          <a:effectLst/>
                          <a:cs typeface="+mn-lt"/>
                        </a:rPr>
                        <a:t>0.0</a:t>
                      </a:r>
                    </a:p>
                    <a:p>
                      <a:pPr marL="0" marR="0" algn="ctr">
                        <a:lnSpc>
                          <a:spcPct val="70000"/>
                        </a:lnSpc>
                        <a:spcBef>
                          <a:spcPts val="0"/>
                        </a:spcBef>
                        <a:spcAft>
                          <a:spcPts val="1000"/>
                        </a:spcAft>
                      </a:pPr>
                      <a:r>
                        <a:rPr lang="en-US" sz="2000" dirty="0">
                          <a:effectLst/>
                          <a:ea typeface="SimSun" panose="02010600030101010101" pitchFamily="2" charset="-122"/>
                          <a:cs typeface="+mn-lt"/>
                        </a:rPr>
                        <a:t>?</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70000"/>
                        </a:lnSpc>
                        <a:spcBef>
                          <a:spcPts val="0"/>
                        </a:spcBef>
                        <a:spcAft>
                          <a:spcPts val="1000"/>
                        </a:spcAft>
                      </a:pPr>
                      <a:r>
                        <a:rPr lang="en-US" sz="2000" dirty="0">
                          <a:effectLst/>
                          <a:ea typeface="SimSun" panose="02010600030101010101" pitchFamily="2" charset="-122"/>
                          <a:cs typeface="+mn-lt"/>
                        </a:rPr>
                        <a:t>1387.0</a:t>
                      </a:r>
                    </a:p>
                    <a:p>
                      <a:pPr marL="0" marR="0" algn="ctr">
                        <a:lnSpc>
                          <a:spcPct val="70000"/>
                        </a:lnSpc>
                        <a:spcBef>
                          <a:spcPts val="0"/>
                        </a:spcBef>
                        <a:spcAft>
                          <a:spcPts val="1000"/>
                        </a:spcAft>
                      </a:pPr>
                      <a:r>
                        <a:rPr lang="en-US" sz="2000" b="1" kern="1200" dirty="0">
                          <a:solidFill>
                            <a:schemeClr val="dk1"/>
                          </a:solidFill>
                          <a:effectLst/>
                          <a:ea typeface="+mn-ea"/>
                          <a:cs typeface="+mn-lt"/>
                        </a:rPr>
                        <a:t>Ivory Coast (Cote D’Ivoire)</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70000"/>
                        </a:lnSpc>
                        <a:spcBef>
                          <a:spcPts val="0"/>
                        </a:spcBef>
                        <a:spcAft>
                          <a:spcPts val="1000"/>
                        </a:spcAft>
                      </a:pPr>
                      <a:r>
                        <a:rPr lang="en-US" sz="2000" dirty="0">
                          <a:effectLst/>
                          <a:cs typeface="+mn-lt"/>
                        </a:rPr>
                        <a:t>0.0</a:t>
                      </a:r>
                    </a:p>
                    <a:p>
                      <a:pPr marL="0" marR="0" algn="ctr">
                        <a:lnSpc>
                          <a:spcPct val="70000"/>
                        </a:lnSpc>
                        <a:spcBef>
                          <a:spcPts val="0"/>
                        </a:spcBef>
                        <a:spcAft>
                          <a:spcPts val="1000"/>
                        </a:spcAft>
                      </a:pPr>
                      <a:r>
                        <a:rPr lang="en-US" sz="2000" dirty="0">
                          <a:effectLst/>
                          <a:ea typeface="SimSun" panose="02010600030101010101" pitchFamily="2" charset="-122"/>
                          <a:cs typeface="+mn-lt"/>
                        </a:rPr>
                        <a:t>?</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70000"/>
                        </a:lnSpc>
                        <a:spcBef>
                          <a:spcPts val="0"/>
                        </a:spcBef>
                        <a:spcAft>
                          <a:spcPts val="1000"/>
                        </a:spcAft>
                      </a:pPr>
                      <a:r>
                        <a:rPr lang="en-US" sz="2000" dirty="0">
                          <a:effectLst/>
                          <a:ea typeface="SimSun" panose="02010600030101010101" pitchFamily="2" charset="-122"/>
                          <a:cs typeface="+mn-lt"/>
                        </a:rPr>
                        <a:t>1387.0</a:t>
                      </a:r>
                    </a:p>
                    <a:p>
                      <a:pPr marL="0" marR="0" algn="ctr">
                        <a:lnSpc>
                          <a:spcPct val="70000"/>
                        </a:lnSpc>
                        <a:spcBef>
                          <a:spcPts val="0"/>
                        </a:spcBef>
                        <a:spcAft>
                          <a:spcPts val="1000"/>
                        </a:spcAft>
                      </a:pPr>
                      <a:r>
                        <a:rPr lang="en-US" sz="2000" kern="1200" dirty="0">
                          <a:solidFill>
                            <a:schemeClr val="dk1"/>
                          </a:solidFill>
                          <a:effectLst/>
                          <a:ea typeface="+mn-ea"/>
                          <a:cs typeface="+mn-lt"/>
                        </a:rPr>
                        <a:t>Ivory Coast (Cote D’Ivoire)</a:t>
                      </a:r>
                      <a:endParaRPr lang="en-US" sz="2000" dirty="0">
                        <a:effectLst/>
                        <a:ea typeface="SimSun" panose="02010600030101010101" pitchFamily="2" charset="-122"/>
                        <a:cs typeface="+mn-lt"/>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909320">
                <a:tc>
                  <a:txBody>
                    <a:bodyPr/>
                    <a:lstStyle/>
                    <a:p>
                      <a:pPr marL="0" marR="0" algn="just">
                        <a:lnSpc>
                          <a:spcPct val="70000"/>
                        </a:lnSpc>
                        <a:spcBef>
                          <a:spcPts val="0"/>
                        </a:spcBef>
                        <a:spcAft>
                          <a:spcPts val="1000"/>
                        </a:spcAft>
                      </a:pPr>
                      <a:r>
                        <a:rPr lang="en-US" sz="2000" b="1" dirty="0">
                          <a:effectLst/>
                          <a:ea typeface="SimSun" panose="02010600030101010101" pitchFamily="2" charset="-122"/>
                          <a:cs typeface="+mn-lt"/>
                        </a:rPr>
                        <a:t>Smaller </a:t>
                      </a:r>
                      <a:r>
                        <a:rPr lang="en-US" sz="2000" b="1" dirty="0" err="1">
                          <a:effectLst/>
                          <a:ea typeface="SimSun" panose="02010600030101010101" pitchFamily="2" charset="-122"/>
                          <a:cs typeface="+mn-lt"/>
                        </a:rPr>
                        <a:t>packsize</a:t>
                      </a:r>
                      <a:r>
                        <a:rPr lang="en-US" sz="2000" b="1" dirty="0">
                          <a:effectLst/>
                          <a:ea typeface="SimSun" panose="02010600030101010101" pitchFamily="2" charset="-122"/>
                          <a:cs typeface="+mn-lt"/>
                        </a:rPr>
                        <a:t> than usual </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457200" algn="just">
                        <a:lnSpc>
                          <a:spcPct val="70000"/>
                        </a:lnSpc>
                        <a:spcAft>
                          <a:spcPts val="1000"/>
                        </a:spcAft>
                      </a:pPr>
                      <a:r>
                        <a:rPr lang="en-US" sz="2000" dirty="0">
                          <a:effectLst/>
                          <a:ea typeface="SimSun" panose="02010600030101010101" pitchFamily="2" charset="-122"/>
                          <a:cs typeface="+mn-lt"/>
                        </a:rPr>
                        <a:t>Count Majority</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70000"/>
                        </a:lnSpc>
                        <a:spcBef>
                          <a:spcPts val="0"/>
                        </a:spcBef>
                        <a:spcAft>
                          <a:spcPts val="1000"/>
                        </a:spcAft>
                      </a:pPr>
                      <a:r>
                        <a:rPr lang="en-US" sz="2000" dirty="0">
                          <a:effectLst/>
                          <a:ea typeface="SimSun" panose="02010600030101010101" pitchFamily="2" charset="-122"/>
                          <a:cs typeface="+mn-lt"/>
                        </a:rPr>
                        <a:t>0.0</a:t>
                      </a:r>
                    </a:p>
                    <a:p>
                      <a:pPr marL="0" marR="0" algn="ctr">
                        <a:lnSpc>
                          <a:spcPct val="70000"/>
                        </a:lnSpc>
                        <a:spcBef>
                          <a:spcPts val="0"/>
                        </a:spcBef>
                        <a:spcAft>
                          <a:spcPts val="1000"/>
                        </a:spcAft>
                      </a:pPr>
                      <a:r>
                        <a:rPr lang="en-US" sz="2000" dirty="0">
                          <a:effectLst/>
                          <a:ea typeface="SimSun" panose="02010600030101010101" pitchFamily="2" charset="-122"/>
                          <a:cs typeface="+mn-lt"/>
                        </a:rPr>
                        <a:t>?</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70000"/>
                        </a:lnSpc>
                        <a:spcBef>
                          <a:spcPts val="0"/>
                        </a:spcBef>
                        <a:spcAft>
                          <a:spcPts val="1000"/>
                        </a:spcAft>
                      </a:pPr>
                      <a:r>
                        <a:rPr lang="en-US" sz="2000" dirty="0">
                          <a:effectLst/>
                          <a:ea typeface="SimSun" panose="02010600030101010101" pitchFamily="2" charset="-122"/>
                          <a:cs typeface="+mn-lt"/>
                        </a:rPr>
                        <a:t>0.0</a:t>
                      </a:r>
                    </a:p>
                    <a:p>
                      <a:pPr marL="0" marR="0" algn="ctr">
                        <a:lnSpc>
                          <a:spcPct val="70000"/>
                        </a:lnSpc>
                        <a:spcBef>
                          <a:spcPts val="0"/>
                        </a:spcBef>
                        <a:spcAft>
                          <a:spcPts val="1000"/>
                        </a:spcAft>
                      </a:pPr>
                      <a:r>
                        <a:rPr lang="en-US" sz="2000" dirty="0">
                          <a:effectLst/>
                          <a:ea typeface="SimSun" panose="02010600030101010101" pitchFamily="2" charset="-122"/>
                          <a:cs typeface="+mn-lt"/>
                        </a:rPr>
                        <a:t>?</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70000"/>
                        </a:lnSpc>
                        <a:spcBef>
                          <a:spcPts val="0"/>
                        </a:spcBef>
                        <a:spcAft>
                          <a:spcPts val="1000"/>
                        </a:spcAft>
                      </a:pPr>
                      <a:r>
                        <a:rPr lang="en-US" sz="2000" dirty="0">
                          <a:effectLst/>
                          <a:ea typeface="SimSun" panose="02010600030101010101" pitchFamily="2" charset="-122"/>
                          <a:cs typeface="+mn-lt"/>
                        </a:rPr>
                        <a:t>883.0</a:t>
                      </a:r>
                    </a:p>
                    <a:p>
                      <a:pPr marL="0" marR="0" algn="ctr">
                        <a:lnSpc>
                          <a:spcPct val="70000"/>
                        </a:lnSpc>
                        <a:spcBef>
                          <a:spcPts val="0"/>
                        </a:spcBef>
                        <a:spcAft>
                          <a:spcPts val="1000"/>
                        </a:spcAft>
                      </a:pPr>
                      <a:r>
                        <a:rPr lang="en-US" sz="2000" b="1" kern="1200" dirty="0">
                          <a:solidFill>
                            <a:schemeClr val="dk1"/>
                          </a:solidFill>
                          <a:effectLst/>
                          <a:ea typeface="+mn-ea"/>
                          <a:cs typeface="+mn-lt"/>
                        </a:rPr>
                        <a:t>Rwanda</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70000"/>
                        </a:lnSpc>
                        <a:spcBef>
                          <a:spcPts val="0"/>
                        </a:spcBef>
                        <a:spcAft>
                          <a:spcPts val="1000"/>
                        </a:spcAft>
                      </a:pPr>
                      <a:r>
                        <a:rPr lang="en-US" sz="2000" dirty="0">
                          <a:effectLst/>
                          <a:ea typeface="SimSun" panose="02010600030101010101" pitchFamily="2" charset="-122"/>
                          <a:cs typeface="+mn-lt"/>
                        </a:rPr>
                        <a:t>883.0</a:t>
                      </a:r>
                    </a:p>
                    <a:p>
                      <a:pPr marL="0" marR="0" algn="ctr">
                        <a:lnSpc>
                          <a:spcPct val="70000"/>
                        </a:lnSpc>
                        <a:spcBef>
                          <a:spcPts val="0"/>
                        </a:spcBef>
                        <a:spcAft>
                          <a:spcPts val="1000"/>
                        </a:spcAft>
                      </a:pPr>
                      <a:r>
                        <a:rPr lang="en-US" sz="2000" kern="1200" dirty="0">
                          <a:solidFill>
                            <a:schemeClr val="dk1"/>
                          </a:solidFill>
                          <a:effectLst/>
                          <a:ea typeface="+mn-ea"/>
                          <a:cs typeface="+mn-lt"/>
                        </a:rPr>
                        <a:t>Rwanda</a:t>
                      </a:r>
                      <a:endParaRPr lang="en-US" sz="2000" dirty="0">
                        <a:effectLst/>
                        <a:ea typeface="SimSun" panose="02010600030101010101" pitchFamily="2" charset="-122"/>
                        <a:cs typeface="+mn-lt"/>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002030">
                <a:tc>
                  <a:txBody>
                    <a:bodyPr/>
                    <a:lstStyle/>
                    <a:p>
                      <a:pPr marL="0" marR="0" algn="just">
                        <a:lnSpc>
                          <a:spcPct val="70000"/>
                        </a:lnSpc>
                        <a:spcBef>
                          <a:spcPts val="0"/>
                        </a:spcBef>
                        <a:spcAft>
                          <a:spcPts val="1000"/>
                        </a:spcAft>
                      </a:pPr>
                      <a:r>
                        <a:rPr lang="en-US" sz="2000" b="1" dirty="0">
                          <a:effectLst/>
                          <a:cs typeface="+mn-lt"/>
                        </a:rPr>
                        <a:t>Total</a:t>
                      </a:r>
                      <a:endParaRPr lang="en-US" sz="2000" b="1" dirty="0">
                        <a:effectLst/>
                        <a:ea typeface="SimSun" panose="02010600030101010101" pitchFamily="2" charset="-122"/>
                        <a:cs typeface="+mn-lt"/>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457200" algn="just">
                        <a:lnSpc>
                          <a:spcPct val="70000"/>
                        </a:lnSpc>
                        <a:spcAft>
                          <a:spcPts val="1000"/>
                        </a:spcAft>
                      </a:pPr>
                      <a:r>
                        <a:rPr lang="en-US" sz="2000" dirty="0">
                          <a:effectLst/>
                          <a:ea typeface="SimSun" panose="02010600030101010101" pitchFamily="2" charset="-122"/>
                          <a:cs typeface="+mn-lt"/>
                        </a:rPr>
                        <a:t>Count Majority</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70000"/>
                        </a:lnSpc>
                        <a:spcBef>
                          <a:spcPts val="0"/>
                        </a:spcBef>
                        <a:spcAft>
                          <a:spcPts val="1000"/>
                        </a:spcAft>
                      </a:pPr>
                      <a:r>
                        <a:rPr lang="en-US" sz="2000" dirty="0">
                          <a:effectLst/>
                          <a:ea typeface="SimSun" panose="02010600030101010101" pitchFamily="2" charset="-122"/>
                          <a:cs typeface="+mn-lt"/>
                        </a:rPr>
                        <a:t>1718.0</a:t>
                      </a:r>
                    </a:p>
                    <a:p>
                      <a:pPr marL="0" marR="0" algn="ctr">
                        <a:lnSpc>
                          <a:spcPct val="70000"/>
                        </a:lnSpc>
                        <a:spcBef>
                          <a:spcPts val="0"/>
                        </a:spcBef>
                        <a:spcAft>
                          <a:spcPts val="1000"/>
                        </a:spcAft>
                      </a:pPr>
                      <a:r>
                        <a:rPr lang="en-US" sz="2000" dirty="0">
                          <a:effectLst/>
                          <a:ea typeface="SimSun" panose="02010600030101010101" pitchFamily="2" charset="-122"/>
                          <a:cs typeface="+mn-lt"/>
                        </a:rPr>
                        <a:t>South Africa</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70000"/>
                        </a:lnSpc>
                        <a:spcBef>
                          <a:spcPts val="0"/>
                        </a:spcBef>
                        <a:spcAft>
                          <a:spcPts val="1000"/>
                        </a:spcAft>
                      </a:pPr>
                      <a:r>
                        <a:rPr lang="en-US" sz="2000" dirty="0">
                          <a:effectLst/>
                          <a:ea typeface="SimSun" panose="02010600030101010101" pitchFamily="2" charset="-122"/>
                          <a:cs typeface="+mn-lt"/>
                        </a:rPr>
                        <a:t>1387.0</a:t>
                      </a:r>
                    </a:p>
                    <a:p>
                      <a:pPr marL="0" marR="0" algn="ctr">
                        <a:lnSpc>
                          <a:spcPct val="70000"/>
                        </a:lnSpc>
                        <a:spcBef>
                          <a:spcPts val="0"/>
                        </a:spcBef>
                        <a:spcAft>
                          <a:spcPts val="1000"/>
                        </a:spcAft>
                      </a:pPr>
                      <a:r>
                        <a:rPr lang="en-US" sz="2000" kern="1200" dirty="0">
                          <a:solidFill>
                            <a:schemeClr val="dk1"/>
                          </a:solidFill>
                          <a:effectLst/>
                          <a:ea typeface="+mn-ea"/>
                          <a:cs typeface="+mn-lt"/>
                        </a:rPr>
                        <a:t>Ivory Coast (Cote D’Ivoire)</a:t>
                      </a:r>
                      <a:endParaRPr lang="en-US" sz="2000" dirty="0">
                        <a:effectLst/>
                        <a:ea typeface="SimSun" panose="02010600030101010101" pitchFamily="2" charset="-122"/>
                        <a:cs typeface="+mn-lt"/>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70000"/>
                        </a:lnSpc>
                        <a:spcBef>
                          <a:spcPts val="0"/>
                        </a:spcBef>
                        <a:spcAft>
                          <a:spcPts val="1000"/>
                        </a:spcAft>
                      </a:pPr>
                      <a:r>
                        <a:rPr lang="en-US" sz="2000" dirty="0">
                          <a:effectLst/>
                          <a:ea typeface="SimSun" panose="02010600030101010101" pitchFamily="2" charset="-122"/>
                          <a:cs typeface="+mn-lt"/>
                        </a:rPr>
                        <a:t>883.0</a:t>
                      </a:r>
                    </a:p>
                    <a:p>
                      <a:pPr marL="0" marR="0" algn="ctr">
                        <a:lnSpc>
                          <a:spcPct val="70000"/>
                        </a:lnSpc>
                        <a:spcBef>
                          <a:spcPts val="0"/>
                        </a:spcBef>
                        <a:spcAft>
                          <a:spcPts val="1000"/>
                        </a:spcAft>
                      </a:pPr>
                      <a:r>
                        <a:rPr lang="en-US" sz="2000" kern="1200" dirty="0">
                          <a:solidFill>
                            <a:schemeClr val="dk1"/>
                          </a:solidFill>
                          <a:effectLst/>
                          <a:ea typeface="+mn-ea"/>
                          <a:cs typeface="+mn-lt"/>
                        </a:rPr>
                        <a:t>Rwanda</a:t>
                      </a:r>
                      <a:endParaRPr lang="en-US" sz="2000" dirty="0">
                        <a:effectLst/>
                        <a:ea typeface="SimSun" panose="02010600030101010101" pitchFamily="2" charset="-122"/>
                        <a:cs typeface="+mn-lt"/>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70000"/>
                        </a:lnSpc>
                        <a:spcBef>
                          <a:spcPts val="0"/>
                        </a:spcBef>
                        <a:spcAft>
                          <a:spcPts val="1000"/>
                        </a:spcAft>
                      </a:pPr>
                      <a:r>
                        <a:rPr lang="en-US" sz="2000" dirty="0">
                          <a:effectLst/>
                          <a:cs typeface="+mn-lt"/>
                        </a:rPr>
                        <a:t>3988.0</a:t>
                      </a:r>
                    </a:p>
                    <a:p>
                      <a:pPr marL="0" marR="0" algn="ctr">
                        <a:lnSpc>
                          <a:spcPct val="70000"/>
                        </a:lnSpc>
                        <a:spcBef>
                          <a:spcPts val="0"/>
                        </a:spcBef>
                        <a:spcAft>
                          <a:spcPts val="1000"/>
                        </a:spcAft>
                      </a:pPr>
                      <a:r>
                        <a:rPr lang="en-US" sz="2800" b="1" dirty="0">
                          <a:solidFill>
                            <a:schemeClr val="tx1"/>
                          </a:solidFill>
                          <a:effectLst/>
                          <a:ea typeface="SimSun" panose="02010600030101010101" pitchFamily="2" charset="-122"/>
                          <a:cs typeface="+mn-lt"/>
                        </a:rPr>
                        <a:t>Benin</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25370"/>
            <a:ext cx="10515600" cy="1052858"/>
          </a:xfrm>
        </p:spPr>
        <p:txBody>
          <a:bodyPr>
            <a:normAutofit/>
          </a:bodyPr>
          <a:lstStyle/>
          <a:p>
            <a:r>
              <a:rPr lang="en-US" sz="5000" dirty="0">
                <a:cs typeface="Times New Roman" panose="02020603050405020304" pitchFamily="18" charset="0"/>
              </a:rPr>
              <a:t>RESULTS</a:t>
            </a:r>
          </a:p>
        </p:txBody>
      </p:sp>
      <p:sp>
        <p:nvSpPr>
          <p:cNvPr id="5" name="TextBox 4"/>
          <p:cNvSpPr txBox="1"/>
          <p:nvPr/>
        </p:nvSpPr>
        <p:spPr>
          <a:xfrm>
            <a:off x="2559093" y="6124406"/>
            <a:ext cx="7073811" cy="398780"/>
          </a:xfrm>
          <a:prstGeom prst="rect">
            <a:avLst/>
          </a:prstGeom>
          <a:noFill/>
        </p:spPr>
        <p:txBody>
          <a:bodyPr wrap="square">
            <a:spAutoFit/>
          </a:bodyPr>
          <a:lstStyle/>
          <a:p>
            <a:r>
              <a:rPr lang="en-US" sz="2000" b="1" dirty="0">
                <a:cs typeface="Times New Roman" panose="02020603050405020304" pitchFamily="18" charset="0"/>
              </a:rPr>
              <a:t>Table </a:t>
            </a:r>
            <a:r>
              <a:rPr lang="en-GB" altLang="en-US" sz="2000" b="1" dirty="0">
                <a:cs typeface="Times New Roman" panose="02020603050405020304" pitchFamily="18" charset="0"/>
              </a:rPr>
              <a:t>4</a:t>
            </a:r>
            <a:r>
              <a:rPr lang="en-US" sz="2000" b="1" dirty="0">
                <a:cs typeface="Times New Roman" panose="02020603050405020304" pitchFamily="18" charset="0"/>
              </a:rPr>
              <a:t>: </a:t>
            </a:r>
            <a:r>
              <a:rPr lang="en-US" sz="2000" dirty="0">
                <a:cs typeface="Times New Roman" panose="02020603050405020304" pitchFamily="18" charset="0"/>
              </a:rPr>
              <a:t>Evaluation Result for Food Amount</a:t>
            </a:r>
          </a:p>
        </p:txBody>
      </p:sp>
      <p:graphicFrame>
        <p:nvGraphicFramePr>
          <p:cNvPr id="4" name="Table 3"/>
          <p:cNvGraphicFramePr>
            <a:graphicFrameLocks noGrp="1"/>
          </p:cNvGraphicFramePr>
          <p:nvPr/>
        </p:nvGraphicFramePr>
        <p:xfrm>
          <a:off x="1392780" y="1350734"/>
          <a:ext cx="9406438" cy="4600407"/>
        </p:xfrm>
        <a:graphic>
          <a:graphicData uri="http://schemas.openxmlformats.org/drawingml/2006/table">
            <a:tbl>
              <a:tblPr>
                <a:tableStyleId>{5C22544A-7EE6-4342-B048-85BDC9FD1C3A}</a:tableStyleId>
              </a:tblPr>
              <a:tblGrid>
                <a:gridCol w="2213894">
                  <a:extLst>
                    <a:ext uri="{9D8B030D-6E8A-4147-A177-3AD203B41FA5}">
                      <a16:colId xmlns:a16="http://schemas.microsoft.com/office/drawing/2014/main" val="20000"/>
                    </a:ext>
                  </a:extLst>
                </a:gridCol>
                <a:gridCol w="1183108">
                  <a:extLst>
                    <a:ext uri="{9D8B030D-6E8A-4147-A177-3AD203B41FA5}">
                      <a16:colId xmlns:a16="http://schemas.microsoft.com/office/drawing/2014/main" val="20001"/>
                    </a:ext>
                  </a:extLst>
                </a:gridCol>
                <a:gridCol w="1305175">
                  <a:extLst>
                    <a:ext uri="{9D8B030D-6E8A-4147-A177-3AD203B41FA5}">
                      <a16:colId xmlns:a16="http://schemas.microsoft.com/office/drawing/2014/main" val="20002"/>
                    </a:ext>
                  </a:extLst>
                </a:gridCol>
                <a:gridCol w="1568087">
                  <a:extLst>
                    <a:ext uri="{9D8B030D-6E8A-4147-A177-3AD203B41FA5}">
                      <a16:colId xmlns:a16="http://schemas.microsoft.com/office/drawing/2014/main" val="20003"/>
                    </a:ext>
                  </a:extLst>
                </a:gridCol>
                <a:gridCol w="1568087">
                  <a:extLst>
                    <a:ext uri="{9D8B030D-6E8A-4147-A177-3AD203B41FA5}">
                      <a16:colId xmlns:a16="http://schemas.microsoft.com/office/drawing/2014/main" val="20004"/>
                    </a:ext>
                  </a:extLst>
                </a:gridCol>
                <a:gridCol w="1568087">
                  <a:extLst>
                    <a:ext uri="{9D8B030D-6E8A-4147-A177-3AD203B41FA5}">
                      <a16:colId xmlns:a16="http://schemas.microsoft.com/office/drawing/2014/main" val="20005"/>
                    </a:ext>
                  </a:extLst>
                </a:gridCol>
              </a:tblGrid>
              <a:tr h="657201">
                <a:tc>
                  <a:txBody>
                    <a:bodyPr/>
                    <a:lstStyle/>
                    <a:p>
                      <a:pPr marL="0" marR="0" algn="just">
                        <a:lnSpc>
                          <a:spcPct val="200000"/>
                        </a:lnSpc>
                        <a:spcBef>
                          <a:spcPts val="0"/>
                        </a:spcBef>
                        <a:spcAft>
                          <a:spcPts val="1000"/>
                        </a:spcAft>
                      </a:pPr>
                      <a:r>
                        <a:rPr lang="en-US" sz="2000" b="1">
                          <a:effectLst/>
                        </a:rPr>
                        <a:t>Model</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lnB w="12700" cmpd="sng">
                      <a:solidFill>
                        <a:schemeClr val="tx1"/>
                      </a:solidFill>
                      <a:prstDash val="solid"/>
                    </a:lnB>
                    <a:noFill/>
                  </a:tcPr>
                </a:tc>
                <a:tc>
                  <a:txBody>
                    <a:bodyPr/>
                    <a:lstStyle/>
                    <a:p>
                      <a:pPr marL="0" marR="0" algn="ctr">
                        <a:lnSpc>
                          <a:spcPct val="200000"/>
                        </a:lnSpc>
                        <a:spcBef>
                          <a:spcPts val="0"/>
                        </a:spcBef>
                        <a:spcAft>
                          <a:spcPts val="1000"/>
                        </a:spcAft>
                      </a:pPr>
                      <a:r>
                        <a:rPr lang="en-US" sz="2000" b="1">
                          <a:effectLst/>
                        </a:rPr>
                        <a:t>AUC</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lnB w="12700" cmpd="sng">
                      <a:solidFill>
                        <a:schemeClr val="tx1"/>
                      </a:solidFill>
                      <a:prstDash val="solid"/>
                    </a:lnB>
                    <a:noFill/>
                  </a:tcPr>
                </a:tc>
                <a:tc>
                  <a:txBody>
                    <a:bodyPr/>
                    <a:lstStyle/>
                    <a:p>
                      <a:pPr marL="0" marR="0" algn="ctr">
                        <a:lnSpc>
                          <a:spcPct val="200000"/>
                        </a:lnSpc>
                        <a:spcBef>
                          <a:spcPts val="0"/>
                        </a:spcBef>
                        <a:spcAft>
                          <a:spcPts val="1000"/>
                        </a:spcAft>
                      </a:pPr>
                      <a:r>
                        <a:rPr lang="en-US" sz="2000" b="1">
                          <a:effectLst/>
                        </a:rPr>
                        <a:t>CA</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lnB w="12700" cmpd="sng">
                      <a:solidFill>
                        <a:schemeClr val="tx1"/>
                      </a:solidFill>
                      <a:prstDash val="solid"/>
                    </a:lnB>
                    <a:noFill/>
                  </a:tcPr>
                </a:tc>
                <a:tc>
                  <a:txBody>
                    <a:bodyPr/>
                    <a:lstStyle/>
                    <a:p>
                      <a:pPr marL="0" marR="0" algn="ctr">
                        <a:lnSpc>
                          <a:spcPct val="200000"/>
                        </a:lnSpc>
                        <a:spcBef>
                          <a:spcPts val="0"/>
                        </a:spcBef>
                        <a:spcAft>
                          <a:spcPts val="1000"/>
                        </a:spcAft>
                      </a:pPr>
                      <a:r>
                        <a:rPr lang="en-US" sz="2000" b="1">
                          <a:effectLst/>
                        </a:rPr>
                        <a:t>F1</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lnB w="12700" cmpd="sng">
                      <a:solidFill>
                        <a:schemeClr val="tx1"/>
                      </a:solidFill>
                      <a:prstDash val="solid"/>
                    </a:lnB>
                    <a:noFill/>
                  </a:tcPr>
                </a:tc>
                <a:tc>
                  <a:txBody>
                    <a:bodyPr/>
                    <a:lstStyle/>
                    <a:p>
                      <a:pPr marL="0" marR="0" algn="ctr">
                        <a:lnSpc>
                          <a:spcPct val="200000"/>
                        </a:lnSpc>
                        <a:spcBef>
                          <a:spcPts val="0"/>
                        </a:spcBef>
                        <a:spcAft>
                          <a:spcPts val="1000"/>
                        </a:spcAft>
                      </a:pPr>
                      <a:r>
                        <a:rPr lang="en-US" sz="2000" b="1">
                          <a:effectLst/>
                        </a:rPr>
                        <a:t>Precision</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lnB w="12700" cmpd="sng">
                      <a:solidFill>
                        <a:schemeClr val="tx1"/>
                      </a:solidFill>
                      <a:prstDash val="solid"/>
                    </a:lnB>
                    <a:noFill/>
                  </a:tcPr>
                </a:tc>
                <a:tc>
                  <a:txBody>
                    <a:bodyPr/>
                    <a:lstStyle/>
                    <a:p>
                      <a:pPr marL="0" marR="0" algn="ctr">
                        <a:lnSpc>
                          <a:spcPct val="200000"/>
                        </a:lnSpc>
                        <a:spcBef>
                          <a:spcPts val="0"/>
                        </a:spcBef>
                        <a:spcAft>
                          <a:spcPts val="1000"/>
                        </a:spcAft>
                      </a:pPr>
                      <a:r>
                        <a:rPr lang="en-US" sz="2000" b="1">
                          <a:effectLst/>
                        </a:rPr>
                        <a:t>Recall</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0"/>
                  </a:ext>
                </a:extLst>
              </a:tr>
              <a:tr h="657201">
                <a:tc>
                  <a:txBody>
                    <a:bodyPr/>
                    <a:lstStyle/>
                    <a:p>
                      <a:pPr marL="0" marR="0" algn="just">
                        <a:lnSpc>
                          <a:spcPct val="200000"/>
                        </a:lnSpc>
                        <a:spcBef>
                          <a:spcPts val="0"/>
                        </a:spcBef>
                        <a:spcAft>
                          <a:spcPts val="1000"/>
                        </a:spcAft>
                      </a:pPr>
                      <a:r>
                        <a:rPr lang="en-US" sz="2000" b="1" dirty="0">
                          <a:effectLst/>
                        </a:rPr>
                        <a:t>Tree</a:t>
                      </a:r>
                      <a:endParaRPr lang="en-US" sz="2000" b="1"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noFill/>
                  </a:tcPr>
                </a:tc>
                <a:extLst>
                  <a:ext uri="{0D108BD9-81ED-4DB2-BD59-A6C34878D82A}">
                    <a16:rowId xmlns:a16="http://schemas.microsoft.com/office/drawing/2014/main" val="10001"/>
                  </a:ext>
                </a:extLst>
              </a:tr>
              <a:tr h="657201">
                <a:tc>
                  <a:txBody>
                    <a:bodyPr/>
                    <a:lstStyle/>
                    <a:p>
                      <a:pPr marL="0" marR="0" algn="just">
                        <a:lnSpc>
                          <a:spcPct val="200000"/>
                        </a:lnSpc>
                        <a:spcBef>
                          <a:spcPts val="0"/>
                        </a:spcBef>
                        <a:spcAft>
                          <a:spcPts val="1000"/>
                        </a:spcAft>
                      </a:pPr>
                      <a:r>
                        <a:rPr lang="en-US" sz="2000" b="1" dirty="0">
                          <a:effectLst/>
                        </a:rPr>
                        <a:t>Random Forest</a:t>
                      </a:r>
                      <a:endParaRPr lang="en-US" sz="2000" b="1"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extLst>
                  <a:ext uri="{0D108BD9-81ED-4DB2-BD59-A6C34878D82A}">
                    <a16:rowId xmlns:a16="http://schemas.microsoft.com/office/drawing/2014/main" val="10002"/>
                  </a:ext>
                </a:extLst>
              </a:tr>
              <a:tr h="657201">
                <a:tc>
                  <a:txBody>
                    <a:bodyPr/>
                    <a:lstStyle/>
                    <a:p>
                      <a:pPr marL="0" marR="0" algn="just">
                        <a:lnSpc>
                          <a:spcPct val="200000"/>
                        </a:lnSpc>
                        <a:spcBef>
                          <a:spcPts val="0"/>
                        </a:spcBef>
                        <a:spcAft>
                          <a:spcPts val="1000"/>
                        </a:spcAft>
                      </a:pPr>
                      <a:r>
                        <a:rPr lang="en-US" sz="2000" b="1">
                          <a:effectLst/>
                        </a:rPr>
                        <a:t>Gradient Boosting</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extLst>
                  <a:ext uri="{0D108BD9-81ED-4DB2-BD59-A6C34878D82A}">
                    <a16:rowId xmlns:a16="http://schemas.microsoft.com/office/drawing/2014/main" val="10003"/>
                  </a:ext>
                </a:extLst>
              </a:tr>
              <a:tr h="657201">
                <a:tc>
                  <a:txBody>
                    <a:bodyPr/>
                    <a:lstStyle/>
                    <a:p>
                      <a:pPr marL="0" marR="0" algn="just">
                        <a:lnSpc>
                          <a:spcPct val="200000"/>
                        </a:lnSpc>
                        <a:spcBef>
                          <a:spcPts val="0"/>
                        </a:spcBef>
                        <a:spcAft>
                          <a:spcPts val="1000"/>
                        </a:spcAft>
                      </a:pPr>
                      <a:r>
                        <a:rPr lang="en-US" sz="2000" b="1">
                          <a:effectLst/>
                        </a:rPr>
                        <a:t>AdaBoost</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extLst>
                  <a:ext uri="{0D108BD9-81ED-4DB2-BD59-A6C34878D82A}">
                    <a16:rowId xmlns:a16="http://schemas.microsoft.com/office/drawing/2014/main" val="10004"/>
                  </a:ext>
                </a:extLst>
              </a:tr>
              <a:tr h="657201">
                <a:tc>
                  <a:txBody>
                    <a:bodyPr/>
                    <a:lstStyle/>
                    <a:p>
                      <a:pPr marL="0" marR="0" algn="just">
                        <a:lnSpc>
                          <a:spcPct val="200000"/>
                        </a:lnSpc>
                        <a:spcBef>
                          <a:spcPts val="0"/>
                        </a:spcBef>
                        <a:spcAft>
                          <a:spcPts val="1000"/>
                        </a:spcAft>
                      </a:pPr>
                      <a:r>
                        <a:rPr lang="en-US" sz="2000" b="1">
                          <a:effectLst/>
                        </a:rPr>
                        <a:t>SVM</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1.000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0.999</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0.999</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0.999</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0.999</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extLst>
                  <a:ext uri="{0D108BD9-81ED-4DB2-BD59-A6C34878D82A}">
                    <a16:rowId xmlns:a16="http://schemas.microsoft.com/office/drawing/2014/main" val="10005"/>
                  </a:ext>
                </a:extLst>
              </a:tr>
              <a:tr h="657201">
                <a:tc>
                  <a:txBody>
                    <a:bodyPr/>
                    <a:lstStyle/>
                    <a:p>
                      <a:pPr marL="0" marR="0" algn="just">
                        <a:lnSpc>
                          <a:spcPct val="200000"/>
                        </a:lnSpc>
                        <a:spcBef>
                          <a:spcPts val="0"/>
                        </a:spcBef>
                        <a:spcAft>
                          <a:spcPts val="1000"/>
                        </a:spcAft>
                      </a:pPr>
                      <a:r>
                        <a:rPr lang="en-US" sz="2000" b="1">
                          <a:effectLst/>
                        </a:rPr>
                        <a:t>KNN</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B w="12700">
                      <a:solidFill>
                        <a:schemeClr val="tx1"/>
                      </a:solidFill>
                      <a:prstDash val="solid"/>
                    </a:lnB>
                    <a:noFill/>
                  </a:tcPr>
                </a:tc>
                <a:tc>
                  <a:txBody>
                    <a:bodyPr/>
                    <a:lstStyle/>
                    <a:p>
                      <a:pPr marL="0" marR="0" algn="ctr">
                        <a:lnSpc>
                          <a:spcPct val="200000"/>
                        </a:lnSpc>
                        <a:spcBef>
                          <a:spcPts val="0"/>
                        </a:spcBef>
                        <a:spcAft>
                          <a:spcPts val="1000"/>
                        </a:spcAft>
                      </a:pPr>
                      <a:r>
                        <a:rPr lang="en-US" sz="2000">
                          <a:effectLst/>
                        </a:rPr>
                        <a:t>0.967</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B w="12700">
                      <a:solidFill>
                        <a:schemeClr val="tx1"/>
                      </a:solidFill>
                      <a:prstDash val="solid"/>
                    </a:lnB>
                    <a:noFill/>
                  </a:tcPr>
                </a:tc>
                <a:tc>
                  <a:txBody>
                    <a:bodyPr/>
                    <a:lstStyle/>
                    <a:p>
                      <a:pPr marL="0" marR="0" algn="ctr">
                        <a:lnSpc>
                          <a:spcPct val="200000"/>
                        </a:lnSpc>
                        <a:spcBef>
                          <a:spcPts val="0"/>
                        </a:spcBef>
                        <a:spcAft>
                          <a:spcPts val="1000"/>
                        </a:spcAft>
                      </a:pPr>
                      <a:r>
                        <a:rPr lang="en-US" sz="2000">
                          <a:effectLst/>
                        </a:rPr>
                        <a:t>0.900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B w="12700">
                      <a:solidFill>
                        <a:schemeClr val="tx1"/>
                      </a:solidFill>
                      <a:prstDash val="solid"/>
                    </a:lnB>
                    <a:noFill/>
                  </a:tcPr>
                </a:tc>
                <a:tc>
                  <a:txBody>
                    <a:bodyPr/>
                    <a:lstStyle/>
                    <a:p>
                      <a:pPr marL="0" marR="0" algn="ctr">
                        <a:lnSpc>
                          <a:spcPct val="200000"/>
                        </a:lnSpc>
                        <a:spcBef>
                          <a:spcPts val="0"/>
                        </a:spcBef>
                        <a:spcAft>
                          <a:spcPts val="1000"/>
                        </a:spcAft>
                      </a:pPr>
                      <a:r>
                        <a:rPr lang="en-US" sz="2000">
                          <a:effectLst/>
                        </a:rPr>
                        <a:t>0.899</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B w="12700">
                      <a:solidFill>
                        <a:schemeClr val="tx1"/>
                      </a:solidFill>
                      <a:prstDash val="solid"/>
                    </a:lnB>
                    <a:noFill/>
                  </a:tcPr>
                </a:tc>
                <a:tc>
                  <a:txBody>
                    <a:bodyPr/>
                    <a:lstStyle/>
                    <a:p>
                      <a:pPr marL="0" marR="0" algn="ctr">
                        <a:lnSpc>
                          <a:spcPct val="200000"/>
                        </a:lnSpc>
                        <a:spcBef>
                          <a:spcPts val="0"/>
                        </a:spcBef>
                        <a:spcAft>
                          <a:spcPts val="1000"/>
                        </a:spcAft>
                      </a:pPr>
                      <a:r>
                        <a:rPr lang="en-US" sz="2000">
                          <a:effectLst/>
                        </a:rPr>
                        <a:t>0.899</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B w="12700">
                      <a:solidFill>
                        <a:schemeClr val="tx1"/>
                      </a:solidFill>
                      <a:prstDash val="solid"/>
                    </a:lnB>
                    <a:noFill/>
                  </a:tcPr>
                </a:tc>
                <a:tc>
                  <a:txBody>
                    <a:bodyPr/>
                    <a:lstStyle/>
                    <a:p>
                      <a:pPr marL="0" marR="0" algn="ctr">
                        <a:lnSpc>
                          <a:spcPct val="200000"/>
                        </a:lnSpc>
                        <a:spcBef>
                          <a:spcPts val="0"/>
                        </a:spcBef>
                        <a:spcAft>
                          <a:spcPts val="1000"/>
                        </a:spcAft>
                      </a:pPr>
                      <a:r>
                        <a:rPr lang="en-US" sz="2000" dirty="0">
                          <a:effectLst/>
                        </a:rPr>
                        <a:t>0.900</a:t>
                      </a:r>
                      <a:endParaRPr lang="en-US" sz="20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B w="12700">
                      <a:solidFill>
                        <a:schemeClr val="tx1"/>
                      </a:solidFill>
                      <a:prstDash val="soli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25370"/>
            <a:ext cx="10515600" cy="1052858"/>
          </a:xfrm>
        </p:spPr>
        <p:txBody>
          <a:bodyPr>
            <a:normAutofit/>
          </a:bodyPr>
          <a:lstStyle/>
          <a:p>
            <a:r>
              <a:rPr lang="en-US" sz="5000" dirty="0">
                <a:cs typeface="Times New Roman" panose="02020603050405020304" pitchFamily="18" charset="0"/>
              </a:rPr>
              <a:t>RESULTS</a:t>
            </a:r>
          </a:p>
        </p:txBody>
      </p:sp>
      <p:sp>
        <p:nvSpPr>
          <p:cNvPr id="5" name="TextBox 4"/>
          <p:cNvSpPr txBox="1"/>
          <p:nvPr/>
        </p:nvSpPr>
        <p:spPr>
          <a:xfrm>
            <a:off x="1515609" y="6289514"/>
            <a:ext cx="9160780" cy="398780"/>
          </a:xfrm>
          <a:prstGeom prst="rect">
            <a:avLst/>
          </a:prstGeom>
          <a:noFill/>
        </p:spPr>
        <p:txBody>
          <a:bodyPr wrap="square">
            <a:spAutoFit/>
          </a:bodyPr>
          <a:lstStyle/>
          <a:p>
            <a:pPr algn="ctr"/>
            <a:r>
              <a:rPr lang="en-US" sz="2000" b="1" dirty="0">
                <a:cs typeface="Times New Roman" panose="02020603050405020304" pitchFamily="18" charset="0"/>
              </a:rPr>
              <a:t>Figure 7: </a:t>
            </a:r>
            <a:r>
              <a:rPr lang="en-US" sz="2000" dirty="0">
                <a:cs typeface="Times New Roman" panose="02020603050405020304" pitchFamily="18" charset="0"/>
              </a:rPr>
              <a:t>Boxplot for Brand Purchase</a:t>
            </a:r>
            <a:endParaRPr lang="en-US" sz="2000" b="1" dirty="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t="4870" b="4686"/>
          <a:stretch>
            <a:fillRect/>
          </a:stretch>
        </p:blipFill>
        <p:spPr>
          <a:xfrm>
            <a:off x="140970" y="1176655"/>
            <a:ext cx="11610975" cy="51130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10095"/>
            <a:ext cx="10515600" cy="1052858"/>
          </a:xfrm>
        </p:spPr>
        <p:txBody>
          <a:bodyPr>
            <a:normAutofit/>
          </a:bodyPr>
          <a:lstStyle/>
          <a:p>
            <a:r>
              <a:rPr lang="en-US" sz="5000" dirty="0">
                <a:cs typeface="Times New Roman" panose="02020603050405020304" pitchFamily="18" charset="0"/>
              </a:rPr>
              <a:t>RESULTS</a:t>
            </a:r>
          </a:p>
        </p:txBody>
      </p:sp>
      <p:sp>
        <p:nvSpPr>
          <p:cNvPr id="5" name="TextBox 4"/>
          <p:cNvSpPr txBox="1"/>
          <p:nvPr/>
        </p:nvSpPr>
        <p:spPr>
          <a:xfrm>
            <a:off x="2637798" y="6304002"/>
            <a:ext cx="7333118" cy="398780"/>
          </a:xfrm>
          <a:prstGeom prst="rect">
            <a:avLst/>
          </a:prstGeom>
          <a:noFill/>
        </p:spPr>
        <p:txBody>
          <a:bodyPr wrap="square">
            <a:spAutoFit/>
          </a:bodyPr>
          <a:lstStyle/>
          <a:p>
            <a:r>
              <a:rPr lang="en-US" sz="2000" b="1" dirty="0">
                <a:cs typeface="Times New Roman" panose="02020603050405020304" pitchFamily="18" charset="0"/>
              </a:rPr>
              <a:t>Table </a:t>
            </a:r>
            <a:r>
              <a:rPr lang="en-GB" altLang="en-US" sz="2000" b="1" dirty="0">
                <a:cs typeface="Times New Roman" panose="02020603050405020304" pitchFamily="18" charset="0"/>
              </a:rPr>
              <a:t>5</a:t>
            </a:r>
            <a:r>
              <a:rPr lang="en-US" sz="2000" b="1" dirty="0">
                <a:cs typeface="Times New Roman" panose="02020603050405020304" pitchFamily="18" charset="0"/>
              </a:rPr>
              <a:t>: </a:t>
            </a:r>
            <a:r>
              <a:rPr lang="en-US" sz="2000" dirty="0">
                <a:cs typeface="Times New Roman" panose="02020603050405020304" pitchFamily="18" charset="0"/>
              </a:rPr>
              <a:t>Evaluation Result for Brand Purchase</a:t>
            </a:r>
          </a:p>
        </p:txBody>
      </p:sp>
      <p:graphicFrame>
        <p:nvGraphicFramePr>
          <p:cNvPr id="3" name="Table 2"/>
          <p:cNvGraphicFramePr>
            <a:graphicFrameLocks noGrp="1"/>
          </p:cNvGraphicFramePr>
          <p:nvPr/>
        </p:nvGraphicFramePr>
        <p:xfrm>
          <a:off x="449578" y="1362862"/>
          <a:ext cx="11292840" cy="4555490"/>
        </p:xfrm>
        <a:graphic>
          <a:graphicData uri="http://schemas.openxmlformats.org/drawingml/2006/table">
            <a:tbl>
              <a:tblPr>
                <a:tableStyleId>{5C22544A-7EE6-4342-B048-85BDC9FD1C3A}</a:tableStyleId>
              </a:tblPr>
              <a:tblGrid>
                <a:gridCol w="1821659">
                  <a:extLst>
                    <a:ext uri="{9D8B030D-6E8A-4147-A177-3AD203B41FA5}">
                      <a16:colId xmlns:a16="http://schemas.microsoft.com/office/drawing/2014/main" val="20000"/>
                    </a:ext>
                  </a:extLst>
                </a:gridCol>
                <a:gridCol w="2281361">
                  <a:extLst>
                    <a:ext uri="{9D8B030D-6E8A-4147-A177-3AD203B41FA5}">
                      <a16:colId xmlns:a16="http://schemas.microsoft.com/office/drawing/2014/main" val="20001"/>
                    </a:ext>
                  </a:extLst>
                </a:gridCol>
                <a:gridCol w="1629544">
                  <a:extLst>
                    <a:ext uri="{9D8B030D-6E8A-4147-A177-3AD203B41FA5}">
                      <a16:colId xmlns:a16="http://schemas.microsoft.com/office/drawing/2014/main" val="20002"/>
                    </a:ext>
                  </a:extLst>
                </a:gridCol>
                <a:gridCol w="1795163">
                  <a:extLst>
                    <a:ext uri="{9D8B030D-6E8A-4147-A177-3AD203B41FA5}">
                      <a16:colId xmlns:a16="http://schemas.microsoft.com/office/drawing/2014/main" val="20003"/>
                    </a:ext>
                  </a:extLst>
                </a:gridCol>
                <a:gridCol w="2374753">
                  <a:extLst>
                    <a:ext uri="{9D8B030D-6E8A-4147-A177-3AD203B41FA5}">
                      <a16:colId xmlns:a16="http://schemas.microsoft.com/office/drawing/2014/main" val="20004"/>
                    </a:ext>
                  </a:extLst>
                </a:gridCol>
                <a:gridCol w="1390362">
                  <a:extLst>
                    <a:ext uri="{9D8B030D-6E8A-4147-A177-3AD203B41FA5}">
                      <a16:colId xmlns:a16="http://schemas.microsoft.com/office/drawing/2014/main" val="20005"/>
                    </a:ext>
                  </a:extLst>
                </a:gridCol>
              </a:tblGrid>
              <a:tr h="753745">
                <a:tc>
                  <a:txBody>
                    <a:bodyPr/>
                    <a:lstStyle/>
                    <a:p>
                      <a:pPr marL="0" marR="0" algn="l">
                        <a:lnSpc>
                          <a:spcPct val="80000"/>
                        </a:lnSpc>
                        <a:spcBef>
                          <a:spcPts val="0"/>
                        </a:spcBef>
                        <a:spcAft>
                          <a:spcPts val="1000"/>
                        </a:spcAft>
                      </a:pPr>
                      <a:endParaRPr lang="en-US" sz="2000" b="1" dirty="0">
                        <a:effectLst/>
                        <a:ea typeface="SimSun" panose="02010600030101010101" pitchFamily="2" charset="-122"/>
                        <a:cs typeface="+mn-lt"/>
                      </a:endParaRPr>
                    </a:p>
                  </a:txBody>
                  <a:tcPr marL="68580" marR="68580" marT="0" marB="0" anchor="ctr">
                    <a:lnT w="12700" cmpd="sng">
                      <a:solidFill>
                        <a:schemeClr val="tx1"/>
                      </a:solidFill>
                      <a:prstDash val="solid"/>
                    </a:lnT>
                    <a:lnB w="12700" cmpd="sng">
                      <a:solidFill>
                        <a:schemeClr val="tx1"/>
                      </a:solidFill>
                      <a:prstDash val="solid"/>
                    </a:lnB>
                    <a:noFill/>
                  </a:tcPr>
                </a:tc>
                <a:tc>
                  <a:txBody>
                    <a:bodyPr/>
                    <a:lstStyle/>
                    <a:p>
                      <a:pPr marL="0" marR="0" algn="ctr">
                        <a:lnSpc>
                          <a:spcPct val="80000"/>
                        </a:lnSpc>
                        <a:spcBef>
                          <a:spcPts val="0"/>
                        </a:spcBef>
                        <a:spcAft>
                          <a:spcPts val="1000"/>
                        </a:spcAft>
                      </a:pPr>
                      <a:r>
                        <a:rPr lang="en-US" sz="2000" b="1" dirty="0">
                          <a:effectLst/>
                          <a:cs typeface="+mn-lt"/>
                        </a:rPr>
                        <a:t>Aggregate</a:t>
                      </a:r>
                      <a:endParaRPr lang="en-US" sz="2000" b="1" dirty="0">
                        <a:effectLst/>
                        <a:ea typeface="SimSun" panose="02010600030101010101" pitchFamily="2" charset="-122"/>
                        <a:cs typeface="+mn-lt"/>
                      </a:endParaRPr>
                    </a:p>
                  </a:txBody>
                  <a:tcPr marL="68580" marR="68580" marT="0" marB="0" anchor="ctr">
                    <a:lnT w="12700" cmpd="sng">
                      <a:solidFill>
                        <a:schemeClr val="tx1"/>
                      </a:solidFill>
                      <a:prstDash val="solid"/>
                    </a:lnT>
                    <a:lnB w="12700" cmpd="sng">
                      <a:solidFill>
                        <a:schemeClr val="tx1"/>
                      </a:solidFill>
                      <a:prstDash val="solid"/>
                    </a:lnB>
                    <a:noFill/>
                  </a:tcPr>
                </a:tc>
                <a:tc>
                  <a:txBody>
                    <a:bodyPr/>
                    <a:lstStyle/>
                    <a:p>
                      <a:pPr marL="0" marR="0" algn="ctr">
                        <a:lnSpc>
                          <a:spcPct val="80000"/>
                        </a:lnSpc>
                        <a:spcBef>
                          <a:spcPts val="0"/>
                        </a:spcBef>
                        <a:spcAft>
                          <a:spcPts val="1000"/>
                        </a:spcAft>
                      </a:pPr>
                      <a:r>
                        <a:rPr lang="en-US" sz="2000" b="1" dirty="0">
                          <a:effectLst/>
                          <a:ea typeface="SimSun" panose="02010600030101010101" pitchFamily="2" charset="-122"/>
                          <a:cs typeface="+mn-lt"/>
                        </a:rPr>
                        <a:t>N / A</a:t>
                      </a:r>
                    </a:p>
                  </a:txBody>
                  <a:tcPr marL="68580" marR="68580" marT="0" marB="0" anchor="ctr">
                    <a:lnT w="12700" cmpd="sng">
                      <a:solidFill>
                        <a:schemeClr val="tx1"/>
                      </a:solidFill>
                      <a:prstDash val="solid"/>
                    </a:lnT>
                    <a:lnB w="12700" cmpd="sng">
                      <a:solidFill>
                        <a:schemeClr val="tx1"/>
                      </a:solidFill>
                      <a:prstDash val="solid"/>
                    </a:lnB>
                    <a:noFill/>
                  </a:tcPr>
                </a:tc>
                <a:tc>
                  <a:txBody>
                    <a:bodyPr/>
                    <a:lstStyle/>
                    <a:p>
                      <a:pPr marL="0" marR="0" algn="ctr">
                        <a:lnSpc>
                          <a:spcPct val="80000"/>
                        </a:lnSpc>
                        <a:spcBef>
                          <a:spcPts val="0"/>
                        </a:spcBef>
                        <a:spcAft>
                          <a:spcPts val="1000"/>
                        </a:spcAft>
                      </a:pPr>
                      <a:r>
                        <a:rPr lang="en-US" sz="2000" b="1" dirty="0">
                          <a:effectLst/>
                          <a:ea typeface="SimSun" panose="02010600030101010101" pitchFamily="2" charset="-122"/>
                          <a:cs typeface="+mn-lt"/>
                        </a:rPr>
                        <a:t>Purchase your usual brands</a:t>
                      </a:r>
                    </a:p>
                  </a:txBody>
                  <a:tcPr marL="68580" marR="68580" marT="0" marB="0" anchor="ctr">
                    <a:lnT w="12700" cmpd="sng">
                      <a:solidFill>
                        <a:schemeClr val="tx1"/>
                      </a:solidFill>
                      <a:prstDash val="solid"/>
                    </a:lnT>
                    <a:lnB w="12700" cmpd="sng">
                      <a:solidFill>
                        <a:schemeClr val="tx1"/>
                      </a:solidFill>
                      <a:prstDash val="solid"/>
                    </a:lnB>
                    <a:noFill/>
                  </a:tcPr>
                </a:tc>
                <a:tc>
                  <a:txBody>
                    <a:bodyPr/>
                    <a:lstStyle/>
                    <a:p>
                      <a:pPr marL="0" marR="0" algn="ctr">
                        <a:lnSpc>
                          <a:spcPct val="80000"/>
                        </a:lnSpc>
                        <a:spcBef>
                          <a:spcPts val="0"/>
                        </a:spcBef>
                        <a:spcAft>
                          <a:spcPts val="1000"/>
                        </a:spcAft>
                      </a:pPr>
                      <a:r>
                        <a:rPr lang="en-US" sz="2000" b="1" dirty="0">
                          <a:effectLst/>
                          <a:ea typeface="SimSun" panose="02010600030101010101" pitchFamily="2" charset="-122"/>
                          <a:cs typeface="+mn-lt"/>
                        </a:rPr>
                        <a:t>Switch to an alternative brand</a:t>
                      </a:r>
                    </a:p>
                  </a:txBody>
                  <a:tcPr marL="68580" marR="68580" marT="0" marB="0" anchor="ctr">
                    <a:lnT w="12700" cmpd="sng">
                      <a:solidFill>
                        <a:schemeClr val="tx1"/>
                      </a:solidFill>
                      <a:prstDash val="solid"/>
                    </a:lnT>
                    <a:lnB w="12700" cmpd="sng">
                      <a:solidFill>
                        <a:schemeClr val="tx1"/>
                      </a:solidFill>
                      <a:prstDash val="solid"/>
                    </a:lnB>
                    <a:noFill/>
                  </a:tcPr>
                </a:tc>
                <a:tc>
                  <a:txBody>
                    <a:bodyPr/>
                    <a:lstStyle/>
                    <a:p>
                      <a:pPr marL="0" marR="0" algn="ctr">
                        <a:lnSpc>
                          <a:spcPct val="80000"/>
                        </a:lnSpc>
                        <a:spcBef>
                          <a:spcPts val="0"/>
                        </a:spcBef>
                        <a:spcAft>
                          <a:spcPts val="1000"/>
                        </a:spcAft>
                      </a:pPr>
                      <a:r>
                        <a:rPr lang="en-US" sz="2000" b="1" dirty="0">
                          <a:effectLst/>
                          <a:ea typeface="SimSun" panose="02010600030101010101" pitchFamily="2" charset="-122"/>
                          <a:cs typeface="+mn-lt"/>
                        </a:rPr>
                        <a:t>Total</a:t>
                      </a:r>
                    </a:p>
                  </a:txBody>
                  <a:tcPr marL="68580" marR="68580" marT="0" marB="0" anchor="ctr">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0"/>
                  </a:ext>
                </a:extLst>
              </a:tr>
              <a:tr h="840740">
                <a:tc>
                  <a:txBody>
                    <a:bodyPr/>
                    <a:lstStyle/>
                    <a:p>
                      <a:pPr marL="0" marR="0" algn="l">
                        <a:lnSpc>
                          <a:spcPct val="80000"/>
                        </a:lnSpc>
                        <a:spcBef>
                          <a:spcPts val="0"/>
                        </a:spcBef>
                        <a:spcAft>
                          <a:spcPts val="1000"/>
                        </a:spcAft>
                      </a:pPr>
                      <a:r>
                        <a:rPr lang="en-US" sz="2000" b="1" dirty="0">
                          <a:effectLst/>
                          <a:ea typeface="SimSun" panose="02010600030101010101" pitchFamily="2" charset="-122"/>
                          <a:cs typeface="+mn-lt"/>
                        </a:rPr>
                        <a:t>N / A</a:t>
                      </a:r>
                    </a:p>
                  </a:txBody>
                  <a:tcPr marL="68580" marR="68580" marT="0" marB="0" anchor="ctr">
                    <a:lnT w="12700" cmpd="sng">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marL="457200" algn="just">
                        <a:lnSpc>
                          <a:spcPct val="80000"/>
                        </a:lnSpc>
                        <a:spcAft>
                          <a:spcPts val="1000"/>
                        </a:spcAft>
                      </a:pPr>
                      <a:r>
                        <a:rPr lang="en-US" sz="2000" dirty="0">
                          <a:effectLst/>
                          <a:ea typeface="SimSun" panose="02010600030101010101" pitchFamily="2" charset="-122"/>
                          <a:cs typeface="+mn-lt"/>
                        </a:rPr>
                        <a:t>Count Majority</a:t>
                      </a:r>
                    </a:p>
                  </a:txBody>
                  <a:tcPr marL="68580" marR="68580" marT="0" marB="0" anchor="ctr">
                    <a:lnT w="12700" cmpd="sng">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ea typeface="SimSun" panose="02010600030101010101" pitchFamily="2" charset="-122"/>
                          <a:cs typeface="+mn-lt"/>
                        </a:rPr>
                        <a:t>808.0</a:t>
                      </a:r>
                    </a:p>
                    <a:p>
                      <a:pPr marL="0" marR="0" algn="ctr">
                        <a:lnSpc>
                          <a:spcPct val="80000"/>
                        </a:lnSpc>
                        <a:spcBef>
                          <a:spcPts val="0"/>
                        </a:spcBef>
                        <a:spcAft>
                          <a:spcPts val="1000"/>
                        </a:spcAft>
                      </a:pPr>
                      <a:r>
                        <a:rPr lang="en-US" sz="2000" b="1" dirty="0">
                          <a:effectLst/>
                          <a:ea typeface="SimSun" panose="02010600030101010101" pitchFamily="2" charset="-122"/>
                          <a:cs typeface="+mn-lt"/>
                        </a:rPr>
                        <a:t>South Africa</a:t>
                      </a:r>
                    </a:p>
                  </a:txBody>
                  <a:tcPr marL="68580" marR="68580" marT="0" marB="0" anchor="ctr">
                    <a:lnT w="12700" cmpd="sng">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ea typeface="SimSun" panose="02010600030101010101" pitchFamily="2" charset="-122"/>
                          <a:cs typeface="+mn-lt"/>
                        </a:rPr>
                        <a:t>0.0</a:t>
                      </a:r>
                    </a:p>
                    <a:p>
                      <a:pPr marL="0" marR="0" algn="ctr">
                        <a:lnSpc>
                          <a:spcPct val="80000"/>
                        </a:lnSpc>
                        <a:spcBef>
                          <a:spcPts val="0"/>
                        </a:spcBef>
                        <a:spcAft>
                          <a:spcPts val="1000"/>
                        </a:spcAft>
                      </a:pPr>
                      <a:r>
                        <a:rPr lang="en-US" sz="2000" dirty="0">
                          <a:effectLst/>
                          <a:ea typeface="SimSun" panose="02010600030101010101" pitchFamily="2" charset="-122"/>
                          <a:cs typeface="+mn-lt"/>
                        </a:rPr>
                        <a:t>?</a:t>
                      </a:r>
                    </a:p>
                  </a:txBody>
                  <a:tcPr marL="68580" marR="68580" marT="0" marB="0" anchor="ctr">
                    <a:lnT w="12700" cmpd="sng">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ea typeface="SimSun" panose="02010600030101010101" pitchFamily="2" charset="-122"/>
                          <a:cs typeface="+mn-lt"/>
                        </a:rPr>
                        <a:t>0.0</a:t>
                      </a:r>
                    </a:p>
                    <a:p>
                      <a:pPr marL="0" marR="0" algn="ctr">
                        <a:lnSpc>
                          <a:spcPct val="80000"/>
                        </a:lnSpc>
                        <a:spcBef>
                          <a:spcPts val="0"/>
                        </a:spcBef>
                        <a:spcAft>
                          <a:spcPts val="1000"/>
                        </a:spcAft>
                      </a:pPr>
                      <a:r>
                        <a:rPr lang="en-US" sz="2000" dirty="0">
                          <a:effectLst/>
                          <a:ea typeface="SimSun" panose="02010600030101010101" pitchFamily="2" charset="-122"/>
                          <a:cs typeface="+mn-lt"/>
                        </a:rPr>
                        <a:t>?</a:t>
                      </a:r>
                    </a:p>
                  </a:txBody>
                  <a:tcPr marL="68580" marR="68580" marT="0" marB="0" anchor="ctr">
                    <a:lnT w="12700" cmpd="sng">
                      <a:solidFill>
                        <a:schemeClr val="tx1"/>
                      </a:solidFill>
                      <a:prstDash val="soli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ea typeface="SimSun" panose="02010600030101010101" pitchFamily="2" charset="-122"/>
                          <a:cs typeface="+mn-lt"/>
                        </a:rPr>
                        <a:t>808.0</a:t>
                      </a:r>
                    </a:p>
                    <a:p>
                      <a:pPr marL="0" marR="0" lvl="0" indent="0" algn="ctr" defTabSz="914400" rtl="0" eaLnBrk="1" fontAlgn="auto" latinLnBrk="0" hangingPunct="1">
                        <a:lnSpc>
                          <a:spcPct val="80000"/>
                        </a:lnSpc>
                        <a:spcBef>
                          <a:spcPts val="0"/>
                        </a:spcBef>
                        <a:spcAft>
                          <a:spcPts val="1000"/>
                        </a:spcAft>
                        <a:buClrTx/>
                        <a:buSzTx/>
                        <a:buFontTx/>
                        <a:buNone/>
                        <a:defRPr/>
                      </a:pPr>
                      <a:r>
                        <a:rPr lang="en-US" sz="2000" dirty="0">
                          <a:effectLst/>
                          <a:ea typeface="SimSun" panose="02010600030101010101" pitchFamily="2" charset="-122"/>
                          <a:cs typeface="+mn-lt"/>
                        </a:rPr>
                        <a:t>South Africa</a:t>
                      </a:r>
                    </a:p>
                  </a:txBody>
                  <a:tcPr marL="68580" marR="68580" marT="0" marB="0" anchor="ctr">
                    <a:lnT w="12700" cmpd="sng">
                      <a:solidFill>
                        <a:schemeClr val="tx1"/>
                      </a:solidFill>
                      <a:prstDash val="soli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993775">
                <a:tc>
                  <a:txBody>
                    <a:bodyPr/>
                    <a:lstStyle/>
                    <a:p>
                      <a:pPr marL="0" marR="0" algn="l">
                        <a:lnSpc>
                          <a:spcPct val="80000"/>
                        </a:lnSpc>
                        <a:spcBef>
                          <a:spcPts val="0"/>
                        </a:spcBef>
                        <a:spcAft>
                          <a:spcPts val="1000"/>
                        </a:spcAft>
                      </a:pPr>
                      <a:r>
                        <a:rPr lang="en-US" sz="2000" b="1" dirty="0">
                          <a:effectLst/>
                          <a:ea typeface="SimSun" panose="02010600030101010101" pitchFamily="2" charset="-122"/>
                          <a:cs typeface="+mn-lt"/>
                        </a:rPr>
                        <a:t>Purchase your usual brands</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457200" algn="just">
                        <a:lnSpc>
                          <a:spcPct val="80000"/>
                        </a:lnSpc>
                        <a:spcAft>
                          <a:spcPts val="1000"/>
                        </a:spcAft>
                      </a:pPr>
                      <a:r>
                        <a:rPr lang="en-US" sz="2000" dirty="0">
                          <a:effectLst/>
                          <a:ea typeface="SimSun" panose="02010600030101010101" pitchFamily="2" charset="-122"/>
                          <a:cs typeface="+mn-lt"/>
                        </a:rPr>
                        <a:t>Count Majority</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cs typeface="+mn-lt"/>
                        </a:rPr>
                        <a:t>0.0</a:t>
                      </a:r>
                    </a:p>
                    <a:p>
                      <a:pPr marL="0" marR="0" algn="ctr">
                        <a:lnSpc>
                          <a:spcPct val="80000"/>
                        </a:lnSpc>
                        <a:spcBef>
                          <a:spcPts val="0"/>
                        </a:spcBef>
                        <a:spcAft>
                          <a:spcPts val="1000"/>
                        </a:spcAft>
                      </a:pPr>
                      <a:r>
                        <a:rPr lang="en-US" sz="2000" dirty="0">
                          <a:effectLst/>
                          <a:ea typeface="SimSun" panose="02010600030101010101" pitchFamily="2" charset="-122"/>
                          <a:cs typeface="+mn-lt"/>
                        </a:rPr>
                        <a:t>?</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kern="1200" dirty="0">
                          <a:solidFill>
                            <a:schemeClr val="dk1"/>
                          </a:solidFill>
                          <a:effectLst/>
                          <a:ea typeface="+mn-ea"/>
                          <a:cs typeface="+mn-lt"/>
                        </a:rPr>
                        <a:t>841.0</a:t>
                      </a:r>
                    </a:p>
                    <a:p>
                      <a:pPr marL="0" marR="0" algn="ctr">
                        <a:lnSpc>
                          <a:spcPct val="80000"/>
                        </a:lnSpc>
                        <a:spcBef>
                          <a:spcPts val="0"/>
                        </a:spcBef>
                        <a:spcAft>
                          <a:spcPts val="1000"/>
                        </a:spcAft>
                      </a:pPr>
                      <a:r>
                        <a:rPr lang="en-US" sz="2000" b="1" kern="1200" dirty="0">
                          <a:solidFill>
                            <a:schemeClr val="dk1"/>
                          </a:solidFill>
                          <a:effectLst/>
                          <a:ea typeface="+mn-ea"/>
                          <a:cs typeface="+mn-lt"/>
                        </a:rPr>
                        <a:t>Benin</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cs typeface="+mn-lt"/>
                        </a:rPr>
                        <a:t>0.0</a:t>
                      </a:r>
                    </a:p>
                    <a:p>
                      <a:pPr marL="0" marR="0" algn="ctr">
                        <a:lnSpc>
                          <a:spcPct val="80000"/>
                        </a:lnSpc>
                        <a:spcBef>
                          <a:spcPts val="0"/>
                        </a:spcBef>
                        <a:spcAft>
                          <a:spcPts val="1000"/>
                        </a:spcAft>
                      </a:pPr>
                      <a:r>
                        <a:rPr lang="en-US" sz="2000" dirty="0">
                          <a:effectLst/>
                          <a:ea typeface="SimSun" panose="02010600030101010101" pitchFamily="2" charset="-122"/>
                          <a:cs typeface="+mn-lt"/>
                        </a:rPr>
                        <a:t>?</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ea typeface="SimSun" panose="02010600030101010101" pitchFamily="2" charset="-122"/>
                          <a:cs typeface="+mn-lt"/>
                        </a:rPr>
                        <a:t>841.0</a:t>
                      </a:r>
                    </a:p>
                    <a:p>
                      <a:pPr marL="0" marR="0" algn="ctr">
                        <a:lnSpc>
                          <a:spcPct val="80000"/>
                        </a:lnSpc>
                        <a:spcBef>
                          <a:spcPts val="0"/>
                        </a:spcBef>
                        <a:spcAft>
                          <a:spcPts val="1000"/>
                        </a:spcAft>
                      </a:pPr>
                      <a:r>
                        <a:rPr lang="en-US" sz="2000" dirty="0">
                          <a:effectLst/>
                          <a:ea typeface="SimSun" panose="02010600030101010101" pitchFamily="2" charset="-122"/>
                          <a:cs typeface="+mn-lt"/>
                        </a:rPr>
                        <a:t>Benin</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974725">
                <a:tc>
                  <a:txBody>
                    <a:bodyPr/>
                    <a:lstStyle/>
                    <a:p>
                      <a:pPr marL="0" marR="0" algn="l">
                        <a:lnSpc>
                          <a:spcPct val="80000"/>
                        </a:lnSpc>
                        <a:spcBef>
                          <a:spcPts val="0"/>
                        </a:spcBef>
                        <a:spcAft>
                          <a:spcPts val="1000"/>
                        </a:spcAft>
                      </a:pPr>
                      <a:r>
                        <a:rPr lang="en-US" sz="2000" b="1" dirty="0">
                          <a:effectLst/>
                          <a:ea typeface="SimSun" panose="02010600030101010101" pitchFamily="2" charset="-122"/>
                          <a:cs typeface="+mn-lt"/>
                        </a:rPr>
                        <a:t>Switch to an alternative brand</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457200" algn="just">
                        <a:lnSpc>
                          <a:spcPct val="80000"/>
                        </a:lnSpc>
                        <a:spcAft>
                          <a:spcPts val="1000"/>
                        </a:spcAft>
                      </a:pPr>
                      <a:r>
                        <a:rPr lang="en-US" sz="2000" dirty="0">
                          <a:effectLst/>
                          <a:ea typeface="SimSun" panose="02010600030101010101" pitchFamily="2" charset="-122"/>
                          <a:cs typeface="+mn-lt"/>
                        </a:rPr>
                        <a:t>Count Majority</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ea typeface="SimSun" panose="02010600030101010101" pitchFamily="2" charset="-122"/>
                          <a:cs typeface="+mn-lt"/>
                        </a:rPr>
                        <a:t>0.0</a:t>
                      </a:r>
                    </a:p>
                    <a:p>
                      <a:pPr marL="0" marR="0" algn="ctr">
                        <a:lnSpc>
                          <a:spcPct val="80000"/>
                        </a:lnSpc>
                        <a:spcBef>
                          <a:spcPts val="0"/>
                        </a:spcBef>
                        <a:spcAft>
                          <a:spcPts val="1000"/>
                        </a:spcAft>
                      </a:pPr>
                      <a:r>
                        <a:rPr lang="en-US" sz="2000" dirty="0">
                          <a:effectLst/>
                          <a:ea typeface="SimSun" panose="02010600030101010101" pitchFamily="2" charset="-122"/>
                          <a:cs typeface="+mn-lt"/>
                        </a:rPr>
                        <a:t>?</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ea typeface="SimSun" panose="02010600030101010101" pitchFamily="2" charset="-122"/>
                          <a:cs typeface="+mn-lt"/>
                        </a:rPr>
                        <a:t>0.0</a:t>
                      </a:r>
                    </a:p>
                    <a:p>
                      <a:pPr marL="0" marR="0" algn="ctr">
                        <a:lnSpc>
                          <a:spcPct val="80000"/>
                        </a:lnSpc>
                        <a:spcBef>
                          <a:spcPts val="0"/>
                        </a:spcBef>
                        <a:spcAft>
                          <a:spcPts val="1000"/>
                        </a:spcAft>
                      </a:pPr>
                      <a:r>
                        <a:rPr lang="en-US" sz="2000" dirty="0">
                          <a:effectLst/>
                          <a:ea typeface="SimSun" panose="02010600030101010101" pitchFamily="2" charset="-122"/>
                          <a:cs typeface="+mn-lt"/>
                        </a:rPr>
                        <a:t>?</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ea typeface="SimSun" panose="02010600030101010101" pitchFamily="2" charset="-122"/>
                          <a:cs typeface="+mn-lt"/>
                        </a:rPr>
                        <a:t>2339.0</a:t>
                      </a:r>
                    </a:p>
                    <a:p>
                      <a:pPr marL="0" marR="0" algn="ctr">
                        <a:lnSpc>
                          <a:spcPct val="80000"/>
                        </a:lnSpc>
                        <a:spcBef>
                          <a:spcPts val="0"/>
                        </a:spcBef>
                        <a:spcAft>
                          <a:spcPts val="1000"/>
                        </a:spcAft>
                      </a:pPr>
                      <a:r>
                        <a:rPr lang="en-US" sz="2000" b="1" kern="1200" dirty="0">
                          <a:solidFill>
                            <a:schemeClr val="dk1"/>
                          </a:solidFill>
                          <a:effectLst/>
                          <a:ea typeface="+mn-ea"/>
                          <a:cs typeface="+mn-lt"/>
                        </a:rPr>
                        <a:t>Rwanda</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80000"/>
                        </a:lnSpc>
                        <a:spcBef>
                          <a:spcPts val="0"/>
                        </a:spcBef>
                        <a:spcAft>
                          <a:spcPts val="1000"/>
                        </a:spcAft>
                      </a:pPr>
                      <a:r>
                        <a:rPr lang="en-US" sz="2000" dirty="0">
                          <a:effectLst/>
                          <a:ea typeface="SimSun" panose="02010600030101010101" pitchFamily="2" charset="-122"/>
                          <a:cs typeface="+mn-lt"/>
                        </a:rPr>
                        <a:t>2339.0</a:t>
                      </a:r>
                    </a:p>
                    <a:p>
                      <a:pPr marL="0" marR="0" algn="ctr">
                        <a:lnSpc>
                          <a:spcPct val="80000"/>
                        </a:lnSpc>
                        <a:spcBef>
                          <a:spcPts val="0"/>
                        </a:spcBef>
                        <a:spcAft>
                          <a:spcPts val="1000"/>
                        </a:spcAft>
                      </a:pPr>
                      <a:r>
                        <a:rPr lang="en-US" sz="2000" kern="1200" dirty="0">
                          <a:solidFill>
                            <a:schemeClr val="dk1"/>
                          </a:solidFill>
                          <a:effectLst/>
                          <a:ea typeface="+mn-ea"/>
                          <a:cs typeface="+mn-lt"/>
                        </a:rPr>
                        <a:t>Rwanda</a:t>
                      </a:r>
                      <a:endParaRPr lang="en-US" sz="2000" dirty="0">
                        <a:effectLst/>
                        <a:ea typeface="SimSun" panose="02010600030101010101" pitchFamily="2" charset="-122"/>
                        <a:cs typeface="+mn-lt"/>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974725">
                <a:tc>
                  <a:txBody>
                    <a:bodyPr/>
                    <a:lstStyle/>
                    <a:p>
                      <a:pPr marL="0" marR="0" algn="l">
                        <a:lnSpc>
                          <a:spcPct val="60000"/>
                        </a:lnSpc>
                        <a:spcBef>
                          <a:spcPts val="0"/>
                        </a:spcBef>
                        <a:spcAft>
                          <a:spcPts val="1000"/>
                        </a:spcAft>
                      </a:pPr>
                      <a:r>
                        <a:rPr lang="en-US" sz="2000" b="1" dirty="0">
                          <a:effectLst/>
                          <a:cs typeface="+mn-lt"/>
                        </a:rPr>
                        <a:t>Total</a:t>
                      </a:r>
                      <a:endParaRPr lang="en-US" sz="2000" b="1" dirty="0">
                        <a:effectLst/>
                        <a:ea typeface="SimSun" panose="02010600030101010101" pitchFamily="2" charset="-122"/>
                        <a:cs typeface="+mn-lt"/>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457200" algn="just">
                        <a:lnSpc>
                          <a:spcPct val="60000"/>
                        </a:lnSpc>
                        <a:spcAft>
                          <a:spcPts val="1000"/>
                        </a:spcAft>
                      </a:pPr>
                      <a:r>
                        <a:rPr lang="en-US" sz="2000" dirty="0">
                          <a:effectLst/>
                          <a:ea typeface="SimSun" panose="02010600030101010101" pitchFamily="2" charset="-122"/>
                          <a:cs typeface="+mn-lt"/>
                        </a:rPr>
                        <a:t>Count Majority</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60000"/>
                        </a:lnSpc>
                        <a:spcBef>
                          <a:spcPts val="0"/>
                        </a:spcBef>
                        <a:spcAft>
                          <a:spcPts val="1000"/>
                        </a:spcAft>
                      </a:pPr>
                      <a:r>
                        <a:rPr lang="en-US" sz="2000" dirty="0">
                          <a:effectLst/>
                          <a:ea typeface="SimSun" panose="02010600030101010101" pitchFamily="2" charset="-122"/>
                          <a:cs typeface="+mn-lt"/>
                        </a:rPr>
                        <a:t>808.0</a:t>
                      </a:r>
                    </a:p>
                    <a:p>
                      <a:pPr marL="0" marR="0" algn="ctr">
                        <a:lnSpc>
                          <a:spcPct val="60000"/>
                        </a:lnSpc>
                        <a:spcBef>
                          <a:spcPts val="0"/>
                        </a:spcBef>
                        <a:spcAft>
                          <a:spcPts val="1000"/>
                        </a:spcAft>
                      </a:pPr>
                      <a:r>
                        <a:rPr lang="en-US" sz="2000" dirty="0">
                          <a:effectLst/>
                          <a:ea typeface="SimSun" panose="02010600030101010101" pitchFamily="2" charset="-122"/>
                          <a:cs typeface="+mn-lt"/>
                        </a:rPr>
                        <a:t>South Africa</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60000"/>
                        </a:lnSpc>
                        <a:spcBef>
                          <a:spcPts val="0"/>
                        </a:spcBef>
                        <a:spcAft>
                          <a:spcPts val="1000"/>
                        </a:spcAft>
                      </a:pPr>
                      <a:r>
                        <a:rPr lang="en-US" sz="2000" kern="1200" dirty="0">
                          <a:solidFill>
                            <a:schemeClr val="dk1"/>
                          </a:solidFill>
                          <a:effectLst/>
                          <a:ea typeface="+mn-ea"/>
                          <a:cs typeface="+mn-lt"/>
                        </a:rPr>
                        <a:t>841.0</a:t>
                      </a:r>
                    </a:p>
                    <a:p>
                      <a:pPr marL="0" marR="0" algn="ctr">
                        <a:lnSpc>
                          <a:spcPct val="60000"/>
                        </a:lnSpc>
                        <a:spcBef>
                          <a:spcPts val="0"/>
                        </a:spcBef>
                        <a:spcAft>
                          <a:spcPts val="1000"/>
                        </a:spcAft>
                      </a:pPr>
                      <a:r>
                        <a:rPr lang="en-US" sz="2000" kern="1200" dirty="0">
                          <a:solidFill>
                            <a:schemeClr val="dk1"/>
                          </a:solidFill>
                          <a:effectLst/>
                          <a:ea typeface="+mn-ea"/>
                          <a:cs typeface="+mn-lt"/>
                        </a:rPr>
                        <a:t>Benin</a:t>
                      </a:r>
                      <a:endParaRPr lang="en-US" sz="2000" dirty="0">
                        <a:effectLst/>
                        <a:ea typeface="SimSun" panose="02010600030101010101" pitchFamily="2" charset="-122"/>
                        <a:cs typeface="+mn-lt"/>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60000"/>
                        </a:lnSpc>
                        <a:spcBef>
                          <a:spcPts val="0"/>
                        </a:spcBef>
                        <a:spcAft>
                          <a:spcPts val="1000"/>
                        </a:spcAft>
                      </a:pPr>
                      <a:r>
                        <a:rPr lang="en-US" sz="2000" dirty="0">
                          <a:effectLst/>
                          <a:ea typeface="SimSun" panose="02010600030101010101" pitchFamily="2" charset="-122"/>
                          <a:cs typeface="+mn-lt"/>
                        </a:rPr>
                        <a:t>2339.0</a:t>
                      </a:r>
                    </a:p>
                    <a:p>
                      <a:pPr marL="0" marR="0" algn="ctr">
                        <a:lnSpc>
                          <a:spcPct val="60000"/>
                        </a:lnSpc>
                        <a:spcBef>
                          <a:spcPts val="0"/>
                        </a:spcBef>
                        <a:spcAft>
                          <a:spcPts val="1000"/>
                        </a:spcAft>
                      </a:pPr>
                      <a:r>
                        <a:rPr lang="en-US" sz="2000" kern="1200" dirty="0">
                          <a:solidFill>
                            <a:schemeClr val="dk1"/>
                          </a:solidFill>
                          <a:effectLst/>
                          <a:ea typeface="+mn-ea"/>
                          <a:cs typeface="+mn-lt"/>
                        </a:rPr>
                        <a:t>Rwanda</a:t>
                      </a:r>
                      <a:endParaRPr lang="en-US" sz="2000" dirty="0">
                        <a:effectLst/>
                        <a:ea typeface="SimSun" panose="02010600030101010101" pitchFamily="2" charset="-122"/>
                        <a:cs typeface="+mn-lt"/>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60000"/>
                        </a:lnSpc>
                        <a:spcBef>
                          <a:spcPts val="0"/>
                        </a:spcBef>
                        <a:spcAft>
                          <a:spcPts val="1000"/>
                        </a:spcAft>
                      </a:pPr>
                      <a:r>
                        <a:rPr lang="en-US" sz="2000" dirty="0">
                          <a:effectLst/>
                          <a:cs typeface="+mn-lt"/>
                        </a:rPr>
                        <a:t>3988.0</a:t>
                      </a:r>
                    </a:p>
                    <a:p>
                      <a:pPr marL="0" marR="0" algn="ctr">
                        <a:lnSpc>
                          <a:spcPct val="60000"/>
                        </a:lnSpc>
                        <a:spcBef>
                          <a:spcPts val="0"/>
                        </a:spcBef>
                        <a:spcAft>
                          <a:spcPts val="1000"/>
                        </a:spcAft>
                      </a:pPr>
                      <a:r>
                        <a:rPr lang="en-US" sz="2800" b="1" dirty="0">
                          <a:effectLst/>
                          <a:ea typeface="SimSun" panose="02010600030101010101" pitchFamily="2" charset="-122"/>
                          <a:cs typeface="+mn-lt"/>
                        </a:rPr>
                        <a:t>Benin</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25370"/>
            <a:ext cx="10515600" cy="1052858"/>
          </a:xfrm>
        </p:spPr>
        <p:txBody>
          <a:bodyPr>
            <a:normAutofit/>
          </a:bodyPr>
          <a:lstStyle/>
          <a:p>
            <a:r>
              <a:rPr lang="en-US" sz="5000" dirty="0">
                <a:cs typeface="Times New Roman" panose="02020603050405020304" pitchFamily="18" charset="0"/>
              </a:rPr>
              <a:t>RESULTS</a:t>
            </a:r>
          </a:p>
        </p:txBody>
      </p:sp>
      <p:sp>
        <p:nvSpPr>
          <p:cNvPr id="5" name="TextBox 4"/>
          <p:cNvSpPr txBox="1"/>
          <p:nvPr/>
        </p:nvSpPr>
        <p:spPr>
          <a:xfrm>
            <a:off x="2395320" y="6255631"/>
            <a:ext cx="7401358" cy="398780"/>
          </a:xfrm>
          <a:prstGeom prst="rect">
            <a:avLst/>
          </a:prstGeom>
          <a:noFill/>
        </p:spPr>
        <p:txBody>
          <a:bodyPr wrap="square">
            <a:spAutoFit/>
          </a:bodyPr>
          <a:lstStyle/>
          <a:p>
            <a:r>
              <a:rPr lang="en-US" sz="2000" b="1" dirty="0">
                <a:cs typeface="Times New Roman" panose="02020603050405020304" pitchFamily="18" charset="0"/>
              </a:rPr>
              <a:t>Table </a:t>
            </a:r>
            <a:r>
              <a:rPr lang="en-GB" altLang="en-US" sz="2000" b="1" dirty="0">
                <a:cs typeface="Times New Roman" panose="02020603050405020304" pitchFamily="18" charset="0"/>
              </a:rPr>
              <a:t>6</a:t>
            </a:r>
            <a:r>
              <a:rPr lang="en-US" sz="2000" b="1" dirty="0">
                <a:cs typeface="Times New Roman" panose="02020603050405020304" pitchFamily="18" charset="0"/>
              </a:rPr>
              <a:t>: </a:t>
            </a:r>
            <a:r>
              <a:rPr lang="en-US" sz="2000" dirty="0">
                <a:cs typeface="Times New Roman" panose="02020603050405020304" pitchFamily="18" charset="0"/>
              </a:rPr>
              <a:t>Evaluation Result for Brand Purchase</a:t>
            </a:r>
          </a:p>
        </p:txBody>
      </p:sp>
      <p:graphicFrame>
        <p:nvGraphicFramePr>
          <p:cNvPr id="3" name="Table 2"/>
          <p:cNvGraphicFramePr>
            <a:graphicFrameLocks noGrp="1"/>
          </p:cNvGraphicFramePr>
          <p:nvPr/>
        </p:nvGraphicFramePr>
        <p:xfrm>
          <a:off x="1298811" y="1297452"/>
          <a:ext cx="9594376" cy="4681180"/>
        </p:xfrm>
        <a:graphic>
          <a:graphicData uri="http://schemas.openxmlformats.org/drawingml/2006/table">
            <a:tbl>
              <a:tblPr>
                <a:tableStyleId>{5C22544A-7EE6-4342-B048-85BDC9FD1C3A}</a:tableStyleId>
              </a:tblPr>
              <a:tblGrid>
                <a:gridCol w="2109296">
                  <a:extLst>
                    <a:ext uri="{9D8B030D-6E8A-4147-A177-3AD203B41FA5}">
                      <a16:colId xmlns:a16="http://schemas.microsoft.com/office/drawing/2014/main" val="20000"/>
                    </a:ext>
                  </a:extLst>
                </a:gridCol>
                <a:gridCol w="1656621">
                  <a:extLst>
                    <a:ext uri="{9D8B030D-6E8A-4147-A177-3AD203B41FA5}">
                      <a16:colId xmlns:a16="http://schemas.microsoft.com/office/drawing/2014/main" val="20001"/>
                    </a:ext>
                  </a:extLst>
                </a:gridCol>
                <a:gridCol w="1355900">
                  <a:extLst>
                    <a:ext uri="{9D8B030D-6E8A-4147-A177-3AD203B41FA5}">
                      <a16:colId xmlns:a16="http://schemas.microsoft.com/office/drawing/2014/main" val="20002"/>
                    </a:ext>
                  </a:extLst>
                </a:gridCol>
                <a:gridCol w="1505730">
                  <a:extLst>
                    <a:ext uri="{9D8B030D-6E8A-4147-A177-3AD203B41FA5}">
                      <a16:colId xmlns:a16="http://schemas.microsoft.com/office/drawing/2014/main" val="20003"/>
                    </a:ext>
                  </a:extLst>
                </a:gridCol>
                <a:gridCol w="1657684">
                  <a:extLst>
                    <a:ext uri="{9D8B030D-6E8A-4147-A177-3AD203B41FA5}">
                      <a16:colId xmlns:a16="http://schemas.microsoft.com/office/drawing/2014/main" val="20004"/>
                    </a:ext>
                  </a:extLst>
                </a:gridCol>
                <a:gridCol w="1309145">
                  <a:extLst>
                    <a:ext uri="{9D8B030D-6E8A-4147-A177-3AD203B41FA5}">
                      <a16:colId xmlns:a16="http://schemas.microsoft.com/office/drawing/2014/main" val="20005"/>
                    </a:ext>
                  </a:extLst>
                </a:gridCol>
              </a:tblGrid>
              <a:tr h="668740">
                <a:tc>
                  <a:txBody>
                    <a:bodyPr/>
                    <a:lstStyle/>
                    <a:p>
                      <a:pPr marL="0" marR="0" algn="just">
                        <a:lnSpc>
                          <a:spcPct val="200000"/>
                        </a:lnSpc>
                        <a:spcBef>
                          <a:spcPts val="0"/>
                        </a:spcBef>
                        <a:spcAft>
                          <a:spcPts val="1000"/>
                        </a:spcAft>
                      </a:pPr>
                      <a:r>
                        <a:rPr lang="en-US" sz="2000" b="1" dirty="0">
                          <a:solidFill>
                            <a:schemeClr val="tx1"/>
                          </a:solidFill>
                          <a:effectLst/>
                        </a:rPr>
                        <a:t>Model</a:t>
                      </a:r>
                      <a:endParaRPr lang="en-US" sz="2000" b="1"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lnB w="12700" cmpd="sng">
                      <a:solidFill>
                        <a:schemeClr val="tx1"/>
                      </a:solidFill>
                      <a:prstDash val="solid"/>
                    </a:lnB>
                    <a:noFill/>
                  </a:tcPr>
                </a:tc>
                <a:tc>
                  <a:txBody>
                    <a:bodyPr/>
                    <a:lstStyle/>
                    <a:p>
                      <a:pPr marL="0" marR="0" algn="ctr">
                        <a:lnSpc>
                          <a:spcPct val="200000"/>
                        </a:lnSpc>
                        <a:spcBef>
                          <a:spcPts val="0"/>
                        </a:spcBef>
                        <a:spcAft>
                          <a:spcPts val="1000"/>
                        </a:spcAft>
                      </a:pPr>
                      <a:r>
                        <a:rPr lang="en-US" sz="2000" b="1">
                          <a:solidFill>
                            <a:schemeClr val="tx1"/>
                          </a:solidFill>
                          <a:effectLst/>
                        </a:rPr>
                        <a:t>AUC</a:t>
                      </a:r>
                      <a:endParaRPr lang="en-US" sz="2000" b="1">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lnB w="12700" cmpd="sng">
                      <a:solidFill>
                        <a:schemeClr val="tx1"/>
                      </a:solidFill>
                      <a:prstDash val="solid"/>
                    </a:lnB>
                    <a:noFill/>
                  </a:tcPr>
                </a:tc>
                <a:tc>
                  <a:txBody>
                    <a:bodyPr/>
                    <a:lstStyle/>
                    <a:p>
                      <a:pPr marL="0" marR="0" algn="ctr">
                        <a:lnSpc>
                          <a:spcPct val="200000"/>
                        </a:lnSpc>
                        <a:spcBef>
                          <a:spcPts val="0"/>
                        </a:spcBef>
                        <a:spcAft>
                          <a:spcPts val="1000"/>
                        </a:spcAft>
                      </a:pPr>
                      <a:r>
                        <a:rPr lang="en-US" sz="2000" b="1">
                          <a:solidFill>
                            <a:schemeClr val="tx1"/>
                          </a:solidFill>
                          <a:effectLst/>
                        </a:rPr>
                        <a:t>CA</a:t>
                      </a:r>
                      <a:endParaRPr lang="en-US" sz="2000" b="1">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lnB w="12700" cmpd="sng">
                      <a:solidFill>
                        <a:schemeClr val="tx1"/>
                      </a:solidFill>
                      <a:prstDash val="solid"/>
                    </a:lnB>
                    <a:noFill/>
                  </a:tcPr>
                </a:tc>
                <a:tc>
                  <a:txBody>
                    <a:bodyPr/>
                    <a:lstStyle/>
                    <a:p>
                      <a:pPr marL="0" marR="0" algn="ctr">
                        <a:lnSpc>
                          <a:spcPct val="200000"/>
                        </a:lnSpc>
                        <a:spcBef>
                          <a:spcPts val="0"/>
                        </a:spcBef>
                        <a:spcAft>
                          <a:spcPts val="1000"/>
                        </a:spcAft>
                      </a:pPr>
                      <a:r>
                        <a:rPr lang="en-US" sz="2000" b="1">
                          <a:solidFill>
                            <a:schemeClr val="tx1"/>
                          </a:solidFill>
                          <a:effectLst/>
                        </a:rPr>
                        <a:t>F1</a:t>
                      </a:r>
                      <a:endParaRPr lang="en-US" sz="2000" b="1">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lnB w="12700" cmpd="sng">
                      <a:solidFill>
                        <a:schemeClr val="tx1"/>
                      </a:solidFill>
                      <a:prstDash val="solid"/>
                    </a:lnB>
                    <a:noFill/>
                  </a:tcPr>
                </a:tc>
                <a:tc>
                  <a:txBody>
                    <a:bodyPr/>
                    <a:lstStyle/>
                    <a:p>
                      <a:pPr marL="0" marR="0" algn="ctr">
                        <a:lnSpc>
                          <a:spcPct val="200000"/>
                        </a:lnSpc>
                        <a:spcBef>
                          <a:spcPts val="0"/>
                        </a:spcBef>
                        <a:spcAft>
                          <a:spcPts val="1000"/>
                        </a:spcAft>
                      </a:pPr>
                      <a:r>
                        <a:rPr lang="en-US" sz="2000" b="1">
                          <a:solidFill>
                            <a:schemeClr val="tx1"/>
                          </a:solidFill>
                          <a:effectLst/>
                        </a:rPr>
                        <a:t>Precision</a:t>
                      </a:r>
                      <a:endParaRPr lang="en-US" sz="2000" b="1">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lnB w="12700" cmpd="sng">
                      <a:solidFill>
                        <a:schemeClr val="tx1"/>
                      </a:solidFill>
                      <a:prstDash val="solid"/>
                    </a:lnB>
                    <a:noFill/>
                  </a:tcPr>
                </a:tc>
                <a:tc>
                  <a:txBody>
                    <a:bodyPr/>
                    <a:lstStyle/>
                    <a:p>
                      <a:pPr marL="0" marR="0" algn="ctr">
                        <a:lnSpc>
                          <a:spcPct val="200000"/>
                        </a:lnSpc>
                        <a:spcBef>
                          <a:spcPts val="0"/>
                        </a:spcBef>
                        <a:spcAft>
                          <a:spcPts val="1000"/>
                        </a:spcAft>
                      </a:pPr>
                      <a:r>
                        <a:rPr lang="en-US" sz="2000" b="1" dirty="0">
                          <a:solidFill>
                            <a:schemeClr val="tx1"/>
                          </a:solidFill>
                          <a:effectLst/>
                        </a:rPr>
                        <a:t>Recall</a:t>
                      </a:r>
                      <a:endParaRPr lang="en-US" sz="2000" b="1"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lnB w="12700" cmpd="sng">
                      <a:solidFill>
                        <a:schemeClr val="tx1"/>
                      </a:solidFill>
                      <a:prstDash val="solid"/>
                    </a:lnB>
                    <a:noFill/>
                  </a:tcPr>
                </a:tc>
                <a:extLst>
                  <a:ext uri="{0D108BD9-81ED-4DB2-BD59-A6C34878D82A}">
                    <a16:rowId xmlns:a16="http://schemas.microsoft.com/office/drawing/2014/main" val="10000"/>
                  </a:ext>
                </a:extLst>
              </a:tr>
              <a:tr h="668740">
                <a:tc>
                  <a:txBody>
                    <a:bodyPr/>
                    <a:lstStyle/>
                    <a:p>
                      <a:pPr marL="0" marR="0" algn="just">
                        <a:lnSpc>
                          <a:spcPct val="200000"/>
                        </a:lnSpc>
                        <a:spcBef>
                          <a:spcPts val="0"/>
                        </a:spcBef>
                        <a:spcAft>
                          <a:spcPts val="1000"/>
                        </a:spcAft>
                      </a:pPr>
                      <a:r>
                        <a:rPr lang="en-US" sz="2000" b="1">
                          <a:effectLst/>
                        </a:rPr>
                        <a:t>Tree</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noFill/>
                  </a:tcPr>
                </a:tc>
                <a:tc>
                  <a:txBody>
                    <a:bodyPr/>
                    <a:lstStyle/>
                    <a:p>
                      <a:pPr marL="0" marR="0" algn="ctr">
                        <a:lnSpc>
                          <a:spcPct val="200000"/>
                        </a:lnSpc>
                        <a:spcBef>
                          <a:spcPts val="0"/>
                        </a:spcBef>
                        <a:spcAft>
                          <a:spcPts val="1000"/>
                        </a:spcAft>
                      </a:pPr>
                      <a:r>
                        <a:rPr lang="en-US" sz="2000" dirty="0">
                          <a:effectLst/>
                        </a:rPr>
                        <a:t>0.611</a:t>
                      </a:r>
                      <a:endParaRPr lang="en-US" sz="20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noFill/>
                  </a:tcPr>
                </a:tc>
                <a:tc>
                  <a:txBody>
                    <a:bodyPr/>
                    <a:lstStyle/>
                    <a:p>
                      <a:pPr marL="0" marR="0" algn="ctr">
                        <a:lnSpc>
                          <a:spcPct val="200000"/>
                        </a:lnSpc>
                        <a:spcBef>
                          <a:spcPts val="0"/>
                        </a:spcBef>
                        <a:spcAft>
                          <a:spcPts val="1000"/>
                        </a:spcAft>
                      </a:pPr>
                      <a:r>
                        <a:rPr lang="en-US" sz="2000">
                          <a:effectLst/>
                        </a:rPr>
                        <a:t>0.694</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noFill/>
                  </a:tcPr>
                </a:tc>
                <a:tc>
                  <a:txBody>
                    <a:bodyPr/>
                    <a:lstStyle/>
                    <a:p>
                      <a:pPr marL="0" marR="0" algn="ctr">
                        <a:lnSpc>
                          <a:spcPct val="200000"/>
                        </a:lnSpc>
                        <a:spcBef>
                          <a:spcPts val="0"/>
                        </a:spcBef>
                        <a:spcAft>
                          <a:spcPts val="1000"/>
                        </a:spcAft>
                      </a:pPr>
                      <a:r>
                        <a:rPr lang="en-US" sz="2000">
                          <a:effectLst/>
                        </a:rPr>
                        <a:t>0.701</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noFill/>
                  </a:tcPr>
                </a:tc>
                <a:tc>
                  <a:txBody>
                    <a:bodyPr/>
                    <a:lstStyle/>
                    <a:p>
                      <a:pPr marL="0" marR="0" algn="ctr">
                        <a:lnSpc>
                          <a:spcPct val="200000"/>
                        </a:lnSpc>
                        <a:spcBef>
                          <a:spcPts val="0"/>
                        </a:spcBef>
                        <a:spcAft>
                          <a:spcPts val="1000"/>
                        </a:spcAft>
                      </a:pPr>
                      <a:r>
                        <a:rPr lang="en-US" sz="2000">
                          <a:effectLst/>
                        </a:rPr>
                        <a:t>0.709</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noFill/>
                  </a:tcPr>
                </a:tc>
                <a:tc>
                  <a:txBody>
                    <a:bodyPr/>
                    <a:lstStyle/>
                    <a:p>
                      <a:pPr marL="0" marR="0" algn="ctr">
                        <a:lnSpc>
                          <a:spcPct val="200000"/>
                        </a:lnSpc>
                        <a:spcBef>
                          <a:spcPts val="0"/>
                        </a:spcBef>
                        <a:spcAft>
                          <a:spcPts val="1000"/>
                        </a:spcAft>
                      </a:pPr>
                      <a:r>
                        <a:rPr lang="en-US" sz="2000" dirty="0">
                          <a:effectLst/>
                        </a:rPr>
                        <a:t>0.694</a:t>
                      </a:r>
                      <a:endParaRPr lang="en-US" sz="20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T w="12700" cmpd="sng">
                      <a:solidFill>
                        <a:schemeClr val="tx1"/>
                      </a:solidFill>
                      <a:prstDash val="solid"/>
                    </a:lnT>
                    <a:noFill/>
                  </a:tcPr>
                </a:tc>
                <a:extLst>
                  <a:ext uri="{0D108BD9-81ED-4DB2-BD59-A6C34878D82A}">
                    <a16:rowId xmlns:a16="http://schemas.microsoft.com/office/drawing/2014/main" val="10001"/>
                  </a:ext>
                </a:extLst>
              </a:tr>
              <a:tr h="668740">
                <a:tc>
                  <a:txBody>
                    <a:bodyPr/>
                    <a:lstStyle/>
                    <a:p>
                      <a:pPr marL="0" marR="0" algn="just">
                        <a:lnSpc>
                          <a:spcPct val="200000"/>
                        </a:lnSpc>
                        <a:spcBef>
                          <a:spcPts val="0"/>
                        </a:spcBef>
                        <a:spcAft>
                          <a:spcPts val="1000"/>
                        </a:spcAft>
                      </a:pPr>
                      <a:r>
                        <a:rPr lang="en-US" sz="2000" b="1">
                          <a:effectLst/>
                        </a:rPr>
                        <a:t>Random Forest</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dirty="0">
                          <a:effectLst/>
                        </a:rPr>
                        <a:t>0.704</a:t>
                      </a:r>
                      <a:endParaRPr lang="en-US" sz="20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0.762</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0.718</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0.715</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0.762</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extLst>
                  <a:ext uri="{0D108BD9-81ED-4DB2-BD59-A6C34878D82A}">
                    <a16:rowId xmlns:a16="http://schemas.microsoft.com/office/drawing/2014/main" val="10002"/>
                  </a:ext>
                </a:extLst>
              </a:tr>
              <a:tr h="668740">
                <a:tc>
                  <a:txBody>
                    <a:bodyPr/>
                    <a:lstStyle/>
                    <a:p>
                      <a:pPr marL="0" marR="0" algn="just">
                        <a:lnSpc>
                          <a:spcPct val="200000"/>
                        </a:lnSpc>
                        <a:spcBef>
                          <a:spcPts val="0"/>
                        </a:spcBef>
                        <a:spcAft>
                          <a:spcPts val="1000"/>
                        </a:spcAft>
                      </a:pPr>
                      <a:r>
                        <a:rPr lang="en-US" sz="2000" b="1">
                          <a:effectLst/>
                        </a:rPr>
                        <a:t>Gradient Boosting</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0.760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0.788</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0.741</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0.763</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0.788</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extLst>
                  <a:ext uri="{0D108BD9-81ED-4DB2-BD59-A6C34878D82A}">
                    <a16:rowId xmlns:a16="http://schemas.microsoft.com/office/drawing/2014/main" val="10003"/>
                  </a:ext>
                </a:extLst>
              </a:tr>
              <a:tr h="668740">
                <a:tc>
                  <a:txBody>
                    <a:bodyPr/>
                    <a:lstStyle/>
                    <a:p>
                      <a:pPr marL="0" marR="0" algn="just">
                        <a:lnSpc>
                          <a:spcPct val="200000"/>
                        </a:lnSpc>
                        <a:spcBef>
                          <a:spcPts val="0"/>
                        </a:spcBef>
                        <a:spcAft>
                          <a:spcPts val="1000"/>
                        </a:spcAft>
                      </a:pPr>
                      <a:r>
                        <a:rPr lang="en-US" sz="2000" b="1">
                          <a:effectLst/>
                        </a:rPr>
                        <a:t>AdaBoost</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0.589</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0.691</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0.695</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0.699</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0.691</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extLst>
                  <a:ext uri="{0D108BD9-81ED-4DB2-BD59-A6C34878D82A}">
                    <a16:rowId xmlns:a16="http://schemas.microsoft.com/office/drawing/2014/main" val="10004"/>
                  </a:ext>
                </a:extLst>
              </a:tr>
              <a:tr h="668740">
                <a:tc>
                  <a:txBody>
                    <a:bodyPr/>
                    <a:lstStyle/>
                    <a:p>
                      <a:pPr marL="0" marR="0" algn="just">
                        <a:lnSpc>
                          <a:spcPct val="200000"/>
                        </a:lnSpc>
                        <a:spcBef>
                          <a:spcPts val="0"/>
                        </a:spcBef>
                        <a:spcAft>
                          <a:spcPts val="1000"/>
                        </a:spcAft>
                      </a:pPr>
                      <a:r>
                        <a:rPr lang="en-US" sz="2000" b="1">
                          <a:effectLst/>
                        </a:rPr>
                        <a:t>SVM</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0.590</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0.585</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0.612</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0.665</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tc>
                  <a:txBody>
                    <a:bodyPr/>
                    <a:lstStyle/>
                    <a:p>
                      <a:pPr marL="0" marR="0" algn="ctr">
                        <a:lnSpc>
                          <a:spcPct val="200000"/>
                        </a:lnSpc>
                        <a:spcBef>
                          <a:spcPts val="0"/>
                        </a:spcBef>
                        <a:spcAft>
                          <a:spcPts val="1000"/>
                        </a:spcAft>
                      </a:pPr>
                      <a:r>
                        <a:rPr lang="en-US" sz="2000">
                          <a:effectLst/>
                        </a:rPr>
                        <a:t>0.585</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oFill/>
                  </a:tcPr>
                </a:tc>
                <a:extLst>
                  <a:ext uri="{0D108BD9-81ED-4DB2-BD59-A6C34878D82A}">
                    <a16:rowId xmlns:a16="http://schemas.microsoft.com/office/drawing/2014/main" val="10005"/>
                  </a:ext>
                </a:extLst>
              </a:tr>
              <a:tr h="668740">
                <a:tc>
                  <a:txBody>
                    <a:bodyPr/>
                    <a:lstStyle/>
                    <a:p>
                      <a:pPr marL="0" marR="0" algn="just">
                        <a:lnSpc>
                          <a:spcPct val="200000"/>
                        </a:lnSpc>
                        <a:spcBef>
                          <a:spcPts val="0"/>
                        </a:spcBef>
                        <a:spcAft>
                          <a:spcPts val="1000"/>
                        </a:spcAft>
                      </a:pPr>
                      <a:r>
                        <a:rPr lang="en-US" sz="2000" b="1">
                          <a:effectLst/>
                        </a:rPr>
                        <a:t>kNN</a:t>
                      </a:r>
                      <a:endParaRPr lang="en-US" sz="2000" b="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B w="12700" cmpd="sng">
                      <a:solidFill>
                        <a:schemeClr val="tx1"/>
                      </a:solidFill>
                      <a:prstDash val="solid"/>
                    </a:lnB>
                    <a:noFill/>
                  </a:tcPr>
                </a:tc>
                <a:tc>
                  <a:txBody>
                    <a:bodyPr/>
                    <a:lstStyle/>
                    <a:p>
                      <a:pPr marL="0" marR="0" algn="ctr">
                        <a:lnSpc>
                          <a:spcPct val="200000"/>
                        </a:lnSpc>
                        <a:spcBef>
                          <a:spcPts val="0"/>
                        </a:spcBef>
                        <a:spcAft>
                          <a:spcPts val="1000"/>
                        </a:spcAft>
                      </a:pPr>
                      <a:r>
                        <a:rPr lang="en-US" sz="2000">
                          <a:effectLst/>
                        </a:rPr>
                        <a:t>0.622</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B w="12700" cmpd="sng">
                      <a:solidFill>
                        <a:schemeClr val="tx1"/>
                      </a:solidFill>
                      <a:prstDash val="solid"/>
                    </a:lnB>
                    <a:noFill/>
                  </a:tcPr>
                </a:tc>
                <a:tc>
                  <a:txBody>
                    <a:bodyPr/>
                    <a:lstStyle/>
                    <a:p>
                      <a:pPr marL="0" marR="0" algn="ctr">
                        <a:lnSpc>
                          <a:spcPct val="200000"/>
                        </a:lnSpc>
                        <a:spcBef>
                          <a:spcPts val="0"/>
                        </a:spcBef>
                        <a:spcAft>
                          <a:spcPts val="1000"/>
                        </a:spcAft>
                      </a:pPr>
                      <a:r>
                        <a:rPr lang="en-US" sz="2000">
                          <a:effectLst/>
                        </a:rPr>
                        <a:t>0.749</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B w="12700" cmpd="sng">
                      <a:solidFill>
                        <a:schemeClr val="tx1"/>
                      </a:solidFill>
                      <a:prstDash val="solid"/>
                    </a:lnB>
                    <a:noFill/>
                  </a:tcPr>
                </a:tc>
                <a:tc>
                  <a:txBody>
                    <a:bodyPr/>
                    <a:lstStyle/>
                    <a:p>
                      <a:pPr marL="0" marR="0" algn="ctr">
                        <a:lnSpc>
                          <a:spcPct val="200000"/>
                        </a:lnSpc>
                        <a:spcBef>
                          <a:spcPts val="0"/>
                        </a:spcBef>
                        <a:spcAft>
                          <a:spcPts val="1000"/>
                        </a:spcAft>
                      </a:pPr>
                      <a:r>
                        <a:rPr lang="en-US" sz="2000" dirty="0">
                          <a:effectLst/>
                        </a:rPr>
                        <a:t>0.712</a:t>
                      </a:r>
                      <a:endParaRPr lang="en-US" sz="20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B w="12700" cmpd="sng">
                      <a:solidFill>
                        <a:schemeClr val="tx1"/>
                      </a:solidFill>
                      <a:prstDash val="solid"/>
                    </a:lnB>
                    <a:noFill/>
                  </a:tcPr>
                </a:tc>
                <a:tc>
                  <a:txBody>
                    <a:bodyPr/>
                    <a:lstStyle/>
                    <a:p>
                      <a:pPr marL="0" marR="0" algn="ctr">
                        <a:lnSpc>
                          <a:spcPct val="200000"/>
                        </a:lnSpc>
                        <a:spcBef>
                          <a:spcPts val="0"/>
                        </a:spcBef>
                        <a:spcAft>
                          <a:spcPts val="1000"/>
                        </a:spcAft>
                      </a:pPr>
                      <a:r>
                        <a:rPr lang="en-US" sz="2000">
                          <a:effectLst/>
                        </a:rPr>
                        <a:t>0.701</a:t>
                      </a:r>
                      <a:endParaRPr lang="en-US" sz="20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B w="12700" cmpd="sng">
                      <a:solidFill>
                        <a:schemeClr val="tx1"/>
                      </a:solidFill>
                      <a:prstDash val="solid"/>
                    </a:lnB>
                    <a:noFill/>
                  </a:tcPr>
                </a:tc>
                <a:tc>
                  <a:txBody>
                    <a:bodyPr/>
                    <a:lstStyle/>
                    <a:p>
                      <a:pPr marL="0" marR="0" algn="ctr">
                        <a:lnSpc>
                          <a:spcPct val="200000"/>
                        </a:lnSpc>
                        <a:spcBef>
                          <a:spcPts val="0"/>
                        </a:spcBef>
                        <a:spcAft>
                          <a:spcPts val="1000"/>
                        </a:spcAft>
                      </a:pPr>
                      <a:r>
                        <a:rPr lang="en-US" sz="2000" dirty="0">
                          <a:effectLst/>
                        </a:rPr>
                        <a:t>0.749</a:t>
                      </a:r>
                      <a:endParaRPr lang="en-US" sz="20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lnB w="12700" cmpd="sng">
                      <a:solidFill>
                        <a:schemeClr val="tx1"/>
                      </a:solidFill>
                      <a:prstDash val="soli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143" y="571534"/>
            <a:ext cx="10515600" cy="1052858"/>
          </a:xfrm>
        </p:spPr>
        <p:txBody>
          <a:bodyPr>
            <a:normAutofit/>
          </a:bodyPr>
          <a:lstStyle/>
          <a:p>
            <a:r>
              <a:rPr lang="en-US" sz="5000" dirty="0">
                <a:latin typeface="Calibri Light" panose="020F0302020204030204" charset="0"/>
                <a:cs typeface="Calibri Light" panose="020F0302020204030204" charset="0"/>
              </a:rPr>
              <a:t>SUMMARY</a:t>
            </a:r>
          </a:p>
        </p:txBody>
      </p:sp>
      <p:sp>
        <p:nvSpPr>
          <p:cNvPr id="3" name="Content Placeholder 2"/>
          <p:cNvSpPr>
            <a:spLocks noGrp="1"/>
          </p:cNvSpPr>
          <p:nvPr>
            <p:ph idx="1"/>
          </p:nvPr>
        </p:nvSpPr>
        <p:spPr>
          <a:xfrm>
            <a:off x="683895" y="1836420"/>
            <a:ext cx="10669905" cy="3039745"/>
          </a:xfrm>
        </p:spPr>
        <p:txBody>
          <a:bodyPr>
            <a:noAutofit/>
          </a:bodyPr>
          <a:lstStyle/>
          <a:p>
            <a:pPr marL="0" indent="0" algn="just">
              <a:lnSpc>
                <a:spcPct val="110000"/>
              </a:lnSpc>
              <a:buNone/>
            </a:pPr>
            <a:r>
              <a:rPr lang="en-US" sz="3200" dirty="0">
                <a:effectLst/>
                <a:ea typeface="SimSun" panose="02010600030101010101" pitchFamily="2" charset="-122"/>
                <a:cs typeface="+mn-lt"/>
              </a:rPr>
              <a:t>In this section, we sum up what we have done so far by analyzing the dataset, the proposed framework and its effect on the issue space, the cycles we went through to accomplish the outcomes, imperatives, as well as suggestions to empower further work on this </a:t>
            </a:r>
            <a:r>
              <a:rPr lang="en-US" sz="3200" dirty="0">
                <a:ea typeface="SimSun" panose="02010600030101010101" pitchFamily="2" charset="-122"/>
                <a:cs typeface="+mn-lt"/>
              </a:rPr>
              <a:t>project.</a:t>
            </a:r>
            <a:endParaRPr lang="en-US" sz="3200" dirty="0">
              <a:effectLst/>
              <a:ea typeface="SimSun" panose="02010600030101010101" pitchFamily="2" charset="-122"/>
              <a:cs typeface="+mn-l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200474"/>
            <a:ext cx="10515600" cy="1052858"/>
          </a:xfrm>
        </p:spPr>
        <p:txBody>
          <a:bodyPr>
            <a:normAutofit/>
          </a:bodyPr>
          <a:lstStyle/>
          <a:p>
            <a:r>
              <a:rPr lang="en-US" sz="5000" dirty="0">
                <a:cs typeface="Times New Roman" panose="02020603050405020304" pitchFamily="18" charset="0"/>
              </a:rPr>
              <a:t>CONCLUSION</a:t>
            </a:r>
          </a:p>
        </p:txBody>
      </p:sp>
      <p:sp>
        <p:nvSpPr>
          <p:cNvPr id="3" name="Content Placeholder 2"/>
          <p:cNvSpPr>
            <a:spLocks noGrp="1"/>
          </p:cNvSpPr>
          <p:nvPr>
            <p:ph idx="1"/>
          </p:nvPr>
        </p:nvSpPr>
        <p:spPr>
          <a:xfrm>
            <a:off x="838199" y="1696779"/>
            <a:ext cx="10515600" cy="3464442"/>
          </a:xfrm>
        </p:spPr>
        <p:txBody>
          <a:bodyPr>
            <a:noAutofit/>
          </a:bodyPr>
          <a:lstStyle/>
          <a:p>
            <a:pPr marL="0" indent="0" algn="just">
              <a:buNone/>
            </a:pPr>
            <a:r>
              <a:rPr lang="en-US" sz="3200" dirty="0">
                <a:effectLst/>
                <a:ea typeface="SimSun" panose="02010600030101010101" pitchFamily="2" charset="-122"/>
                <a:cs typeface="+mn-lt"/>
              </a:rPr>
              <a:t>It is proven that the computer through artificial intelligence can outperform humans in most rudimentary processes. We leveraged machine learning to build a system that would enable countries in sub-Saharan Africa to predict the economic impact of covid. This will go a long way for countries in that region to be able to manage the country’s economy.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4089" y="214295"/>
            <a:ext cx="10515600" cy="1052858"/>
          </a:xfrm>
        </p:spPr>
        <p:txBody>
          <a:bodyPr>
            <a:normAutofit/>
          </a:bodyPr>
          <a:lstStyle/>
          <a:p>
            <a:r>
              <a:rPr lang="en-US" sz="5000" dirty="0">
                <a:cs typeface="Times New Roman" panose="02020603050405020304" pitchFamily="18" charset="0"/>
              </a:rPr>
              <a:t>REFERENCES</a:t>
            </a:r>
          </a:p>
        </p:txBody>
      </p:sp>
      <p:sp>
        <p:nvSpPr>
          <p:cNvPr id="4" name="Content Placeholder 5"/>
          <p:cNvSpPr>
            <a:spLocks noGrp="1"/>
          </p:cNvSpPr>
          <p:nvPr>
            <p:ph idx="1"/>
          </p:nvPr>
        </p:nvSpPr>
        <p:spPr>
          <a:xfrm>
            <a:off x="904089" y="1267153"/>
            <a:ext cx="10383821" cy="5225721"/>
          </a:xfrm>
        </p:spPr>
        <p:txBody>
          <a:bodyPr>
            <a:normAutofit fontScale="25000" lnSpcReduction="20000"/>
          </a:bodyPr>
          <a:lstStyle/>
          <a:p>
            <a:pPr marL="342900" lvl="0" indent="-342900" algn="just">
              <a:lnSpc>
                <a:spcPct val="115000"/>
              </a:lnSpc>
              <a:spcAft>
                <a:spcPts val="1000"/>
              </a:spcAft>
              <a:buFont typeface="+mj-lt"/>
              <a:buAutoNum type="arabicPeriod"/>
            </a:pPr>
            <a:r>
              <a:rPr lang="en-US" sz="9600" dirty="0">
                <a:effectLst/>
                <a:ea typeface="Calibri" panose="020F0502020204030204" pitchFamily="34" charset="0"/>
                <a:cs typeface="Times New Roman" panose="02020603050405020304" pitchFamily="18" charset="0"/>
              </a:rPr>
              <a:t>Coronavirus COVID-19 global cases by the Center for Systems Science and Engineering (CSSE) at Johns Hopkins University (JHU) [May;2020]; Available </a:t>
            </a:r>
            <a:r>
              <a:rPr lang="en-US" sz="9600" u="sng" dirty="0">
                <a:solidFill>
                  <a:srgbClr val="0000FF"/>
                </a:solidFill>
                <a:effectLst/>
                <a:ea typeface="Calibri" panose="020F0502020204030204" pitchFamily="34" charset="0"/>
                <a:cs typeface="Times New Roman" panose="02020603050405020304" pitchFamily="18" charset="0"/>
                <a:hlinkClick r:id="rId2"/>
              </a:rPr>
              <a:t>https://coronavirus.jhu.edu/map.html 2020</a:t>
            </a:r>
            <a:endParaRPr lang="en-US" sz="9600" u="sng" dirty="0">
              <a:solidFill>
                <a:srgbClr val="0000FF"/>
              </a:solidFill>
              <a:effectLst/>
              <a:ea typeface="Calibri" panose="020F0502020204030204" pitchFamily="34" charset="0"/>
              <a:cs typeface="Times New Roman" panose="02020603050405020304" pitchFamily="18" charset="0"/>
            </a:endParaRPr>
          </a:p>
          <a:p>
            <a:pPr marL="342900" lvl="0" indent="-342900" algn="just">
              <a:lnSpc>
                <a:spcPct val="115000"/>
              </a:lnSpc>
              <a:buFont typeface="+mj-lt"/>
              <a:buAutoNum type="arabicPeriod"/>
            </a:pPr>
            <a:r>
              <a:rPr lang="en-US" sz="9600" dirty="0">
                <a:effectLst/>
                <a:ea typeface="Calibri" panose="020F0502020204030204" pitchFamily="34" charset="0"/>
                <a:cs typeface="Times New Roman" panose="02020603050405020304" pitchFamily="18" charset="0"/>
              </a:rPr>
              <a:t>Su S, Wong G, Shi W, et al. Epidemiology, genetic recombination, and pathogenesis of coronaviruses. Trends Microbiology. 2016;6:490–502. doi:10.1016/j.tim.2016.03.003. [Cross-ref], [Google Scholar]</a:t>
            </a:r>
          </a:p>
          <a:p>
            <a:pPr marL="342900" lvl="0" indent="-342900" algn="just">
              <a:lnSpc>
                <a:spcPct val="115000"/>
              </a:lnSpc>
              <a:spcAft>
                <a:spcPts val="1000"/>
              </a:spcAft>
              <a:buFont typeface="+mj-lt"/>
              <a:buAutoNum type="arabicPeriod"/>
            </a:pPr>
            <a:r>
              <a:rPr lang="en-US" sz="9600" dirty="0">
                <a:effectLst/>
                <a:ea typeface="Calibri" panose="020F0502020204030204" pitchFamily="34" charset="0"/>
                <a:cs typeface="Times New Roman" panose="02020603050405020304" pitchFamily="18" charset="0"/>
              </a:rPr>
              <a:t>Buell, B., Chen, C., Cherif, R., Tang, J., &amp; Wendt, N. (2021). Impact of COVID-19: Nowcasting and Big Data to Track Economic Activity in Sub-Saharan Africa, IMF Working Papers, 2021(124), A001. Retrieved Dec 14, 2021, from </a:t>
            </a:r>
            <a:r>
              <a:rPr lang="en-US" sz="9600" u="sng" dirty="0">
                <a:solidFill>
                  <a:srgbClr val="0000FF"/>
                </a:solidFill>
                <a:effectLst/>
                <a:ea typeface="Calibri" panose="020F0502020204030204" pitchFamily="34" charset="0"/>
                <a:cs typeface="Times New Roman" panose="02020603050405020304" pitchFamily="18" charset="0"/>
                <a:hlinkClick r:id="rId3"/>
              </a:rPr>
              <a:t>https://www.elibrary.imf.org/view/journals/001/2021/124/article-A001-en.xml</a:t>
            </a:r>
            <a:r>
              <a:rPr lang="en-US" sz="9600" dirty="0">
                <a:effectLst/>
                <a:ea typeface="Calibri" panose="020F0502020204030204" pitchFamily="34" charset="0"/>
                <a:cs typeface="Times New Roman" panose="02020603050405020304" pitchFamily="18" charset="0"/>
              </a:rPr>
              <a:t> </a:t>
            </a:r>
          </a:p>
          <a:p>
            <a:pPr marL="342900" indent="-342900" algn="just">
              <a:lnSpc>
                <a:spcPct val="115000"/>
              </a:lnSpc>
              <a:spcAft>
                <a:spcPts val="1000"/>
              </a:spcAft>
              <a:buFont typeface="+mj-lt"/>
              <a:buAutoNum type="arabicPeriod"/>
            </a:pPr>
            <a:r>
              <a:rPr lang="en-US" sz="9600" dirty="0">
                <a:effectLst/>
                <a:ea typeface="Calibri" panose="020F0502020204030204" pitchFamily="34" charset="0"/>
                <a:cs typeface="Times New Roman" panose="02020603050405020304" pitchFamily="18" charset="0"/>
              </a:rPr>
              <a:t>Wang N, Shi X, Jiang L, et al. Structure of MERS-CoV spike receptor-binding domain complexed with human receptor DPP4. Cell Res. 2013;23:986–993. doi:10.1038/cr.2013.92. [Cross-ref], [Web of Science ®], [Google Scholar] </a:t>
            </a:r>
          </a:p>
          <a:p>
            <a:pPr marL="342900" lvl="0" indent="-342900" algn="just">
              <a:lnSpc>
                <a:spcPct val="115000"/>
              </a:lnSpc>
              <a:spcAft>
                <a:spcPts val="1000"/>
              </a:spcAft>
              <a:buFont typeface="+mj-lt"/>
              <a:buAutoNum type="arabicPeriod"/>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mj-lt"/>
              <a:buAutoNum type="arabicPeriod"/>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mj-lt"/>
              <a:buAutoNum type="arabicPeriod" startAt="4"/>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2470" y="108277"/>
            <a:ext cx="10515600" cy="1052858"/>
          </a:xfrm>
        </p:spPr>
        <p:txBody>
          <a:bodyPr>
            <a:normAutofit/>
          </a:bodyPr>
          <a:lstStyle/>
          <a:p>
            <a:r>
              <a:rPr lang="en-US" sz="5000" dirty="0">
                <a:cs typeface="Times New Roman" panose="02020603050405020304" pitchFamily="18" charset="0"/>
              </a:rPr>
              <a:t>REFERENCES</a:t>
            </a:r>
          </a:p>
        </p:txBody>
      </p:sp>
      <p:sp>
        <p:nvSpPr>
          <p:cNvPr id="4" name="Content Placeholder 5"/>
          <p:cNvSpPr>
            <a:spLocks noGrp="1"/>
          </p:cNvSpPr>
          <p:nvPr>
            <p:ph idx="1"/>
          </p:nvPr>
        </p:nvSpPr>
        <p:spPr>
          <a:xfrm>
            <a:off x="382470" y="1161135"/>
            <a:ext cx="11427059" cy="5590847"/>
          </a:xfrm>
        </p:spPr>
        <p:txBody>
          <a:bodyPr>
            <a:normAutofit fontScale="25000" lnSpcReduction="20000"/>
          </a:bodyPr>
          <a:lstStyle/>
          <a:p>
            <a:pPr marL="457200" lvl="0" indent="-457200" algn="just">
              <a:lnSpc>
                <a:spcPct val="115000"/>
              </a:lnSpc>
              <a:spcAft>
                <a:spcPts val="1000"/>
              </a:spcAft>
              <a:buFont typeface="+mj-lt"/>
              <a:buAutoNum type="arabicPeriod" startAt="5"/>
            </a:pPr>
            <a:r>
              <a:rPr lang="en-US" sz="9600" dirty="0">
                <a:effectLst/>
                <a:ea typeface="Calibri" panose="020F0502020204030204" pitchFamily="34" charset="0"/>
                <a:cs typeface="Times New Roman" panose="02020603050405020304" pitchFamily="18" charset="0"/>
              </a:rPr>
              <a:t>Baker, S. R., Bloom, N., Davis, S. J., &amp; Terry, S. J. (2020). COVID-Induced Economic Uncertainty (Working Paper No. 26983; Working Paper Series). National Bureau of Economic Research. </a:t>
            </a:r>
            <a:r>
              <a:rPr lang="en-US" sz="9600" u="sng" dirty="0">
                <a:solidFill>
                  <a:srgbClr val="0000FF"/>
                </a:solidFill>
                <a:effectLst/>
                <a:ea typeface="Calibri" panose="020F0502020204030204" pitchFamily="34" charset="0"/>
                <a:cs typeface="Times New Roman" panose="02020603050405020304" pitchFamily="18" charset="0"/>
                <a:hlinkClick r:id="rId2"/>
              </a:rPr>
              <a:t>https://doi.org/10.3386/w26983</a:t>
            </a:r>
            <a:r>
              <a:rPr lang="en-US" sz="9600" dirty="0">
                <a:effectLst/>
                <a:ea typeface="Calibri" panose="020F0502020204030204" pitchFamily="34" charset="0"/>
                <a:cs typeface="Times New Roman" panose="02020603050405020304" pitchFamily="18" charset="0"/>
              </a:rPr>
              <a:t> </a:t>
            </a:r>
          </a:p>
          <a:p>
            <a:pPr marL="457200" lvl="0" indent="-457200" algn="just">
              <a:lnSpc>
                <a:spcPct val="115000"/>
              </a:lnSpc>
              <a:buFont typeface="+mj-lt"/>
              <a:buAutoNum type="arabicPeriod" startAt="5"/>
            </a:pPr>
            <a:r>
              <a:rPr lang="en-US" sz="9600" dirty="0">
                <a:cs typeface="Times New Roman" panose="02020603050405020304" pitchFamily="18" charset="0"/>
              </a:rPr>
              <a:t>Susan </a:t>
            </a:r>
            <a:r>
              <a:rPr lang="en-US" sz="9600" dirty="0" err="1">
                <a:cs typeface="Times New Roman" panose="02020603050405020304" pitchFamily="18" charset="0"/>
              </a:rPr>
              <a:t>Athey</a:t>
            </a:r>
            <a:r>
              <a:rPr lang="en-US" sz="9600" dirty="0">
                <a:cs typeface="Times New Roman" panose="02020603050405020304" pitchFamily="18" charset="0"/>
              </a:rPr>
              <a:t>, 2018. "The Impact of Machine Learning on Economics," NBER Chapters, in: The Economics of Artificial Intelligence: An Agenda, pages 507-547, National Bureau of Economic Research, Inc. </a:t>
            </a:r>
            <a:r>
              <a:rPr lang="en-US" sz="9600" dirty="0">
                <a:cs typeface="Times New Roman" panose="02020603050405020304" pitchFamily="18" charset="0"/>
                <a:hlinkClick r:id="rId3"/>
              </a:rPr>
              <a:t>https://ideas.repec.org/h/nbr/nberch/14009.html</a:t>
            </a:r>
            <a:r>
              <a:rPr lang="en-US" sz="9600" dirty="0">
                <a:cs typeface="Times New Roman" panose="02020603050405020304" pitchFamily="18" charset="0"/>
              </a:rPr>
              <a:t>.</a:t>
            </a:r>
          </a:p>
          <a:p>
            <a:pPr marL="457200" lvl="0" indent="-457200" algn="just">
              <a:lnSpc>
                <a:spcPct val="115000"/>
              </a:lnSpc>
              <a:buFont typeface="+mj-lt"/>
              <a:buAutoNum type="arabicPeriod" startAt="5"/>
            </a:pPr>
            <a:r>
              <a:rPr lang="en-US" sz="9600" b="0" i="0" u="none" strike="noStrike" kern="1200" dirty="0" err="1">
                <a:solidFill>
                  <a:schemeClr val="tx1"/>
                </a:solidFill>
                <a:effectLst/>
                <a:cs typeface="Times New Roman" panose="02020603050405020304" pitchFamily="18" charset="0"/>
              </a:rPr>
              <a:t>S</a:t>
            </a:r>
            <a:r>
              <a:rPr lang="en-US" sz="9600" b="0" i="0" u="none" strike="noStrike" kern="1200" dirty="0" err="1">
                <a:solidFill>
                  <a:schemeClr val="dk1"/>
                </a:solidFill>
                <a:effectLst/>
                <a:cs typeface="Times New Roman" panose="02020603050405020304" pitchFamily="18" charset="0"/>
              </a:rPr>
              <a:t>a</a:t>
            </a:r>
            <a:r>
              <a:rPr lang="en-US" sz="9600" b="0" i="0" kern="1200" dirty="0" err="1">
                <a:solidFill>
                  <a:schemeClr val="dk1"/>
                </a:solidFill>
                <a:effectLst/>
                <a:cs typeface="Times New Roman" panose="02020603050405020304" pitchFamily="18" charset="0"/>
              </a:rPr>
              <a:t>mobi</a:t>
            </a:r>
            <a:r>
              <a:rPr lang="en-US" sz="9600" b="0" i="0" kern="1200" dirty="0">
                <a:solidFill>
                  <a:schemeClr val="dk1"/>
                </a:solidFill>
                <a:effectLst/>
                <a:cs typeface="Times New Roman" panose="02020603050405020304" pitchFamily="18" charset="0"/>
              </a:rPr>
              <a:t> Andrew </a:t>
            </a:r>
            <a:r>
              <a:rPr lang="en-US" sz="9600" b="0" i="0" kern="1200" dirty="0" err="1">
                <a:solidFill>
                  <a:schemeClr val="dk1"/>
                </a:solidFill>
                <a:effectLst/>
                <a:cs typeface="Times New Roman" panose="02020603050405020304" pitchFamily="18" charset="0"/>
              </a:rPr>
              <a:t>Onovo</a:t>
            </a:r>
            <a:r>
              <a:rPr lang="en-US" sz="9600" b="0" i="0" kern="1200" dirty="0">
                <a:solidFill>
                  <a:schemeClr val="dk1"/>
                </a:solidFill>
                <a:effectLst/>
                <a:cs typeface="Times New Roman" panose="02020603050405020304" pitchFamily="18" charset="0"/>
              </a:rPr>
              <a:t>, Akinyemi </a:t>
            </a:r>
            <a:r>
              <a:rPr lang="en-US" sz="9600" b="0" i="0" kern="1200" dirty="0" err="1">
                <a:solidFill>
                  <a:schemeClr val="dk1"/>
                </a:solidFill>
                <a:effectLst/>
                <a:cs typeface="Times New Roman" panose="02020603050405020304" pitchFamily="18" charset="0"/>
              </a:rPr>
              <a:t>Atobatele</a:t>
            </a:r>
            <a:r>
              <a:rPr lang="en-US" sz="9600" b="0" i="0" kern="1200" dirty="0">
                <a:solidFill>
                  <a:schemeClr val="dk1"/>
                </a:solidFill>
                <a:effectLst/>
                <a:cs typeface="Times New Roman" panose="02020603050405020304" pitchFamily="18" charset="0"/>
              </a:rPr>
              <a:t>, </a:t>
            </a:r>
            <a:r>
              <a:rPr lang="en-US" sz="9600" b="0" i="0" kern="1200" dirty="0" err="1">
                <a:solidFill>
                  <a:schemeClr val="dk1"/>
                </a:solidFill>
                <a:effectLst/>
                <a:cs typeface="Times New Roman" panose="02020603050405020304" pitchFamily="18" charset="0"/>
              </a:rPr>
              <a:t>Abiye</a:t>
            </a:r>
            <a:r>
              <a:rPr lang="en-US" sz="9600" b="0" i="0" kern="1200" dirty="0">
                <a:solidFill>
                  <a:schemeClr val="dk1"/>
                </a:solidFill>
                <a:effectLst/>
                <a:cs typeface="Times New Roman" panose="02020603050405020304" pitchFamily="18" charset="0"/>
              </a:rPr>
              <a:t> </a:t>
            </a:r>
            <a:r>
              <a:rPr lang="en-US" sz="9600" b="0" i="0" kern="1200" dirty="0" err="1">
                <a:solidFill>
                  <a:schemeClr val="dk1"/>
                </a:solidFill>
                <a:effectLst/>
                <a:cs typeface="Times New Roman" panose="02020603050405020304" pitchFamily="18" charset="0"/>
              </a:rPr>
              <a:t>Kalaiwo</a:t>
            </a:r>
            <a:r>
              <a:rPr lang="en-US" sz="9600" b="0" i="0" kern="1200" dirty="0">
                <a:solidFill>
                  <a:schemeClr val="dk1"/>
                </a:solidFill>
                <a:effectLst/>
                <a:cs typeface="Times New Roman" panose="02020603050405020304" pitchFamily="18" charset="0"/>
              </a:rPr>
              <a:t>, Christopher </a:t>
            </a:r>
            <a:r>
              <a:rPr lang="en-US" sz="9600" b="0" i="0" kern="1200" dirty="0" err="1">
                <a:solidFill>
                  <a:schemeClr val="dk1"/>
                </a:solidFill>
                <a:effectLst/>
                <a:cs typeface="Times New Roman" panose="02020603050405020304" pitchFamily="18" charset="0"/>
              </a:rPr>
              <a:t>Obanubi</a:t>
            </a:r>
            <a:r>
              <a:rPr lang="en-US" sz="9600" b="0" i="0" kern="1200" dirty="0">
                <a:solidFill>
                  <a:schemeClr val="dk1"/>
                </a:solidFill>
                <a:effectLst/>
                <a:cs typeface="Times New Roman" panose="02020603050405020304" pitchFamily="18" charset="0"/>
              </a:rPr>
              <a:t>, </a:t>
            </a:r>
            <a:r>
              <a:rPr lang="en-US" sz="9600" dirty="0">
                <a:effectLst/>
                <a:ea typeface="Calibri" panose="020F0502020204030204" pitchFamily="34" charset="0"/>
                <a:cs typeface="Times New Roman" panose="02020603050405020304" pitchFamily="18" charset="0"/>
              </a:rPr>
              <a:t>, et al. Structure of MERS-</a:t>
            </a:r>
            <a:r>
              <a:rPr lang="en-US" sz="9600" dirty="0" err="1">
                <a:effectLst/>
                <a:ea typeface="Calibri" panose="020F0502020204030204" pitchFamily="34" charset="0"/>
                <a:cs typeface="Times New Roman" panose="02020603050405020304" pitchFamily="18" charset="0"/>
              </a:rPr>
              <a:t>CoV</a:t>
            </a:r>
            <a:r>
              <a:rPr lang="en-US" sz="9600" dirty="0">
                <a:effectLst/>
                <a:ea typeface="Calibri" panose="020F0502020204030204" pitchFamily="34" charset="0"/>
                <a:cs typeface="Times New Roman" panose="02020603050405020304" pitchFamily="18" charset="0"/>
              </a:rPr>
              <a:t> spike receptor-binding domain complexed with human receptor DPP4. </a:t>
            </a:r>
            <a:r>
              <a:rPr lang="en-US" sz="9600" u="sng" dirty="0">
                <a:solidFill>
                  <a:srgbClr val="0000FF"/>
                </a:solidFill>
                <a:effectLst/>
                <a:ea typeface="Calibri" panose="020F0502020204030204" pitchFamily="34" charset="0"/>
                <a:cs typeface="Times New Roman" panose="02020603050405020304" pitchFamily="18" charset="0"/>
                <a:hlinkClick r:id="rId4"/>
              </a:rPr>
              <a:t>https://www.medrxiv.org/content/10.1101/2020.04.27.20082057v1.full.pdf</a:t>
            </a:r>
            <a:endParaRPr lang="en-US" sz="9600" u="sng" dirty="0">
              <a:solidFill>
                <a:srgbClr val="0000FF"/>
              </a:solidFill>
              <a:effectLst/>
              <a:ea typeface="Calibri" panose="020F0502020204030204" pitchFamily="34" charset="0"/>
              <a:cs typeface="Times New Roman" panose="02020603050405020304" pitchFamily="18" charset="0"/>
            </a:endParaRPr>
          </a:p>
          <a:p>
            <a:pPr marL="457200" indent="-457200" algn="just">
              <a:lnSpc>
                <a:spcPct val="115000"/>
              </a:lnSpc>
              <a:buFont typeface="+mj-lt"/>
              <a:buAutoNum type="arabicPeriod" startAt="5"/>
            </a:pPr>
            <a:r>
              <a:rPr lang="en-US" sz="9600" dirty="0">
                <a:effectLst/>
                <a:ea typeface="Calibri" panose="020F0502020204030204" pitchFamily="34" charset="0"/>
                <a:cs typeface="Times New Roman" panose="02020603050405020304" pitchFamily="18" charset="0"/>
              </a:rPr>
              <a:t>Buell, B., Chen, C., </a:t>
            </a:r>
            <a:r>
              <a:rPr lang="en-US" sz="9600" dirty="0" err="1">
                <a:effectLst/>
                <a:ea typeface="Calibri" panose="020F0502020204030204" pitchFamily="34" charset="0"/>
                <a:cs typeface="Times New Roman" panose="02020603050405020304" pitchFamily="18" charset="0"/>
              </a:rPr>
              <a:t>Cherif</a:t>
            </a:r>
            <a:r>
              <a:rPr lang="en-US" sz="9600" dirty="0">
                <a:effectLst/>
                <a:ea typeface="Calibri" panose="020F0502020204030204" pitchFamily="34" charset="0"/>
                <a:cs typeface="Times New Roman" panose="02020603050405020304" pitchFamily="18" charset="0"/>
              </a:rPr>
              <a:t>, R., Tang, J., &amp; Wendt, N. (2021). Impact of COVID-19: Nowcasting and Big Data to Track Economic Activity in Sub-Saharan Africa, IMF Working Papers, 2021(124), A001. Retrieved Dec 14, 2021, from </a:t>
            </a:r>
            <a:r>
              <a:rPr lang="en-US" sz="9600" u="sng" dirty="0">
                <a:solidFill>
                  <a:srgbClr val="0000FF"/>
                </a:solidFill>
                <a:effectLst/>
                <a:ea typeface="Calibri" panose="020F0502020204030204" pitchFamily="34" charset="0"/>
                <a:cs typeface="Times New Roman" panose="02020603050405020304" pitchFamily="18" charset="0"/>
                <a:hlinkClick r:id="rId5"/>
              </a:rPr>
              <a:t>https://www.elibrary.imf.org/view/journals/001/2021/124/article-A001-en.xml</a:t>
            </a:r>
            <a:r>
              <a:rPr lang="en-US" sz="9600" dirty="0">
                <a:effectLst/>
                <a:ea typeface="Calibri" panose="020F0502020204030204" pitchFamily="34" charset="0"/>
                <a:cs typeface="Times New Roman" panose="02020603050405020304" pitchFamily="18" charset="0"/>
              </a:rPr>
              <a:t> </a:t>
            </a:r>
          </a:p>
          <a:p>
            <a:pPr marL="342900" lvl="0" indent="-342900" algn="just">
              <a:lnSpc>
                <a:spcPct val="115000"/>
              </a:lnSpc>
              <a:spcAft>
                <a:spcPts val="1000"/>
              </a:spcAft>
              <a:buFont typeface="+mj-lt"/>
              <a:buAutoNum type="arabicPeriod"/>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mj-lt"/>
              <a:buAutoNum type="arabicPeriod"/>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mj-lt"/>
              <a:buAutoNum type="arabicPeriod" startAt="4"/>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4203971" y="5428034"/>
            <a:ext cx="3938080" cy="1058390"/>
          </a:xfrm>
          <a:prstGeom prst="rect">
            <a:avLst/>
          </a:prstGeom>
        </p:spPr>
        <p:txBody>
          <a:bodyP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000" b="1">
                <a:latin typeface="Times New Roman" panose="02020603050405020304" pitchFamily="18" charset="0"/>
                <a:cs typeface="Times New Roman" panose="02020603050405020304" pitchFamily="18" charset="0"/>
              </a:rPr>
              <a:t>Thank You!</a:t>
            </a:r>
            <a:endParaRPr lang="en-US" sz="6000"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5174" y="291199"/>
            <a:ext cx="4941651" cy="498119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1830</Words>
  <Application>Microsoft Office PowerPoint</Application>
  <PresentationFormat>Widescreen</PresentationFormat>
  <Paragraphs>378</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SimSun</vt:lpstr>
      <vt:lpstr>Arial</vt:lpstr>
      <vt:lpstr>Calibri</vt:lpstr>
      <vt:lpstr>Calibri Light</vt:lpstr>
      <vt:lpstr>Tahoma</vt:lpstr>
      <vt:lpstr>Times New Roman</vt:lpstr>
      <vt:lpstr>Office Theme</vt:lpstr>
      <vt:lpstr>PREDICTING THE ECONOMIC IMPACT OF POST COVID-19 IN SUB-SAHARAN AFRICAN COUNTRIES USING GRADIENT BOOSTING</vt:lpstr>
      <vt:lpstr>PROJECT BACKGROUND</vt:lpstr>
      <vt:lpstr>PROBLEM STATEMENT</vt:lpstr>
      <vt:lpstr>AIMS AND OBJECTIVES</vt:lpstr>
      <vt:lpstr>SUMMARY OF RELATED WORKS</vt:lpstr>
      <vt:lpstr>SUMMARY OF RELATED WORKS</vt:lpstr>
      <vt:lpstr>SUMMARY OF RELATED WORKS</vt:lpstr>
      <vt:lpstr>SUMMARY OF RELATED WORKS</vt:lpstr>
      <vt:lpstr>RESEARCH GAP</vt:lpstr>
      <vt:lpstr>DESIGN AND METHODOLOGY</vt:lpstr>
      <vt:lpstr>DESIGN AND METHODOLOGY</vt:lpstr>
      <vt:lpstr>IMPLEMENTATION</vt:lpstr>
      <vt:lpstr>IMPLEMENTATION</vt:lpstr>
      <vt:lpstr>RESULTS</vt:lpstr>
      <vt:lpstr>RESULTS</vt:lpstr>
      <vt:lpstr>RESULTS</vt:lpstr>
      <vt:lpstr>RESULTS</vt:lpstr>
      <vt:lpstr>RESULTS</vt:lpstr>
      <vt:lpstr>RESULTS</vt:lpstr>
      <vt:lpstr>RESULTS</vt:lpstr>
      <vt:lpstr>RESULTS</vt:lpstr>
      <vt:lpstr>RESULTS</vt:lpstr>
      <vt:lpstr>SUMMARY</vt:lpstr>
      <vt:lpstr>CONCLUSION</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THE ECONOMIC IMPACT OF POST COVID-19 IN SUB-SAHARAN AFRICAN COUNTRIES USING GRADIENT BOOSTING</dc:title>
  <dc:creator>Sanni Phataii</dc:creator>
  <cp:lastModifiedBy>Sanni Phataii</cp:lastModifiedBy>
  <cp:revision>16</cp:revision>
  <dcterms:created xsi:type="dcterms:W3CDTF">2022-08-06T05:35:00Z</dcterms:created>
  <dcterms:modified xsi:type="dcterms:W3CDTF">2022-08-11T08:35:28Z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C75BD3B39EEE4DFBB8F9315C5841C356</vt:lpwstr>
  </property>
  <property fmtid="{D5CDD505-2E9C-101B-9397-08002B2CF9AE}" pid="3" name="KSOProductBuildVer">
    <vt:lpwstr>1033-11.2.0.11246</vt:lpwstr>
  </property>
</Properties>
</file>